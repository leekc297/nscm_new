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1" r:id="rId2"/>
    <p:sldId id="426" r:id="rId3"/>
    <p:sldId id="500" r:id="rId4"/>
    <p:sldId id="424" r:id="rId5"/>
    <p:sldId id="409" r:id="rId6"/>
    <p:sldId id="446" r:id="rId7"/>
    <p:sldId id="504" r:id="rId8"/>
    <p:sldId id="422" r:id="rId9"/>
    <p:sldId id="375" r:id="rId10"/>
    <p:sldId id="315" r:id="rId11"/>
    <p:sldId id="501" r:id="rId12"/>
    <p:sldId id="405" r:id="rId13"/>
    <p:sldId id="455" r:id="rId14"/>
    <p:sldId id="377" r:id="rId15"/>
    <p:sldId id="386" r:id="rId16"/>
    <p:sldId id="387" r:id="rId17"/>
    <p:sldId id="401" r:id="rId18"/>
    <p:sldId id="402" r:id="rId19"/>
    <p:sldId id="440" r:id="rId20"/>
    <p:sldId id="479" r:id="rId21"/>
    <p:sldId id="392" r:id="rId22"/>
    <p:sldId id="441" r:id="rId23"/>
    <p:sldId id="429" r:id="rId24"/>
    <p:sldId id="442" r:id="rId25"/>
    <p:sldId id="398" r:id="rId26"/>
    <p:sldId id="502" r:id="rId27"/>
    <p:sldId id="503" r:id="rId28"/>
    <p:sldId id="445" r:id="rId29"/>
    <p:sldId id="397" r:id="rId30"/>
    <p:sldId id="463" r:id="rId31"/>
    <p:sldId id="464" r:id="rId32"/>
    <p:sldId id="492" r:id="rId33"/>
    <p:sldId id="485" r:id="rId34"/>
    <p:sldId id="486" r:id="rId35"/>
    <p:sldId id="487" r:id="rId3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atch" id="{DC54FA26-6CED-44F1-83E4-0D4DD5F2FCCD}">
          <p14:sldIdLst>
            <p14:sldId id="281"/>
            <p14:sldId id="426"/>
            <p14:sldId id="500"/>
            <p14:sldId id="424"/>
            <p14:sldId id="409"/>
            <p14:sldId id="446"/>
            <p14:sldId id="504"/>
          </p14:sldIdLst>
        </p14:section>
        <p14:section name="Weekly Rolling" id="{93562304-3C5E-4063-94DC-10BA1CD94FD7}">
          <p14:sldIdLst>
            <p14:sldId id="422"/>
            <p14:sldId id="375"/>
            <p14:sldId id="315"/>
            <p14:sldId id="501"/>
            <p14:sldId id="405"/>
            <p14:sldId id="455"/>
            <p14:sldId id="377"/>
            <p14:sldId id="386"/>
            <p14:sldId id="387"/>
            <p14:sldId id="401"/>
            <p14:sldId id="402"/>
          </p14:sldIdLst>
        </p14:section>
        <p14:section name="ERP 실적" id="{F59B4046-305E-4EB4-B00D-B50077C03690}">
          <p14:sldIdLst>
            <p14:sldId id="440"/>
            <p14:sldId id="479"/>
            <p14:sldId id="392"/>
          </p14:sldIdLst>
        </p14:section>
        <p14:section name="판매법인 재고" id="{DFCB5DBC-52D7-40F8-B4F2-3FA4793B404B}">
          <p14:sldIdLst>
            <p14:sldId id="441"/>
            <p14:sldId id="429"/>
          </p14:sldIdLst>
        </p14:section>
        <p14:section name="Customer" id="{E8A5E15C-F7EB-4451-AC01-BC88F3989AAD}">
          <p14:sldIdLst>
            <p14:sldId id="442"/>
            <p14:sldId id="398"/>
          </p14:sldIdLst>
        </p14:section>
        <p14:section name="VMI 재고 입출력" id="{F66FB68A-05B3-47A3-B023-2A7A97C05287}">
          <p14:sldIdLst>
            <p14:sldId id="502"/>
            <p14:sldId id="503"/>
          </p14:sldIdLst>
        </p14:section>
        <p14:section name="PROJECT" id="{C19F7257-5CB9-4AB2-8018-164B4CE5803E}">
          <p14:sldIdLst>
            <p14:sldId id="445"/>
            <p14:sldId id="397"/>
          </p14:sldIdLst>
        </p14:section>
        <p14:section name="환율정보" id="{9296F636-26B6-404F-BE9E-4D027D17B99D}">
          <p14:sldIdLst>
            <p14:sldId id="463"/>
            <p14:sldId id="464"/>
          </p14:sldIdLst>
        </p14:section>
        <p14:section name="데이터 삭제" id="{F36D6682-570A-4F5F-9CC8-20AA4D22BBE8}">
          <p14:sldIdLst>
            <p14:sldId id="492"/>
            <p14:sldId id="485"/>
            <p14:sldId id="486"/>
            <p14:sldId id="48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1">
          <p15:clr>
            <a:srgbClr val="A4A3A4"/>
          </p15:clr>
        </p15:guide>
        <p15:guide id="2" orient="horz" pos="269">
          <p15:clr>
            <a:srgbClr val="A4A3A4"/>
          </p15:clr>
        </p15:guide>
        <p15:guide id="3" pos="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930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70" autoAdjust="0"/>
    <p:restoredTop sz="86382" autoAdjust="0"/>
  </p:normalViewPr>
  <p:slideViewPr>
    <p:cSldViewPr snapToGrid="0">
      <p:cViewPr varScale="1">
        <p:scale>
          <a:sx n="107" d="100"/>
          <a:sy n="107" d="100"/>
        </p:scale>
        <p:origin x="2700" y="102"/>
      </p:cViewPr>
      <p:guideLst>
        <p:guide orient="horz" pos="11"/>
        <p:guide orient="horz" pos="269"/>
        <p:guide pos="6"/>
      </p:guideLst>
    </p:cSldViewPr>
  </p:slideViewPr>
  <p:outlineViewPr>
    <p:cViewPr>
      <p:scale>
        <a:sx n="33" d="100"/>
        <a:sy n="33" d="100"/>
      </p:scale>
      <p:origin x="0" y="5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8622-8EF2-4840-A67E-D80BC85F1C1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D304-275C-4EA6-AFC6-6151D193BF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264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25" y="17463"/>
            <a:ext cx="10515600" cy="409575"/>
          </a:xfrm>
        </p:spPr>
        <p:txBody>
          <a:bodyPr>
            <a:normAutofit/>
          </a:bodyPr>
          <a:lstStyle>
            <a:lvl1pPr>
              <a:defRPr sz="16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8622-8EF2-4840-A67E-D80BC85F1C1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D304-275C-4EA6-AFC6-6151D193BF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571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F88622-8EF2-4840-A67E-D80BC85F1C1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87D304-275C-4EA6-AFC6-6151D193BF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4886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88622-8EF2-4840-A67E-D80BC85F1C17}" type="datetimeFigureOut">
              <a:rPr lang="ko-KR" altLang="en-US" smtClean="0"/>
              <a:t>2026-05-18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87D304-275C-4EA6-AFC6-6151D193BF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9302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979175" y="1691148"/>
            <a:ext cx="652187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5400" dirty="0"/>
              <a:t>DM</a:t>
            </a:r>
            <a:r>
              <a:rPr lang="ko-KR" altLang="en-US" sz="5400" dirty="0"/>
              <a:t> 프로세스 정리</a:t>
            </a:r>
          </a:p>
        </p:txBody>
      </p:sp>
    </p:spTree>
    <p:extLst>
      <p:ext uri="{BB962C8B-B14F-4D97-AF65-F5344CB8AC3E}">
        <p14:creationId xmlns:p14="http://schemas.microsoft.com/office/powerpoint/2010/main" val="29270595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조직</a:t>
            </a:r>
            <a:r>
              <a:rPr lang="en-US" altLang="ko-KR" dirty="0"/>
              <a:t>, </a:t>
            </a:r>
            <a:r>
              <a:rPr lang="ko-KR" altLang="en-US" dirty="0"/>
              <a:t>관련 시스템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787036" y="1562100"/>
            <a:ext cx="127254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DM</a:t>
            </a:r>
          </a:p>
          <a:p>
            <a:pPr algn="ctr"/>
            <a:r>
              <a:rPr lang="ko-KR" altLang="en-US" dirty="0"/>
              <a:t>수요관리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3400696" y="1562100"/>
            <a:ext cx="127254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SCP</a:t>
            </a:r>
          </a:p>
          <a:p>
            <a:pPr algn="ctr"/>
            <a:r>
              <a:rPr lang="ko-KR" altLang="en-US" dirty="0"/>
              <a:t>공급계획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762896" y="1562100"/>
            <a:ext cx="127254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SSP</a:t>
            </a:r>
          </a:p>
          <a:p>
            <a:pPr algn="ctr"/>
            <a:r>
              <a:rPr lang="ko-KR" altLang="en-US" dirty="0" err="1"/>
              <a:t>출하계획</a:t>
            </a:r>
            <a:endParaRPr lang="ko-KR" altLang="en-US" dirty="0"/>
          </a:p>
        </p:txBody>
      </p:sp>
      <p:cxnSp>
        <p:nvCxnSpPr>
          <p:cNvPr id="10" name="직선 화살표 연결선 9"/>
          <p:cNvCxnSpPr>
            <a:stCxn id="4" idx="3"/>
            <a:endCxn id="5" idx="1"/>
          </p:cNvCxnSpPr>
          <p:nvPr/>
        </p:nvCxnSpPr>
        <p:spPr>
          <a:xfrm>
            <a:off x="2059576" y="1866900"/>
            <a:ext cx="13411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5" idx="3"/>
            <a:endCxn id="7" idx="1"/>
          </p:cNvCxnSpPr>
          <p:nvPr/>
        </p:nvCxnSpPr>
        <p:spPr>
          <a:xfrm>
            <a:off x="4673236" y="1866900"/>
            <a:ext cx="10896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구부러진 연결선 19"/>
          <p:cNvCxnSpPr>
            <a:stCxn id="5" idx="2"/>
            <a:endCxn id="4" idx="2"/>
          </p:cNvCxnSpPr>
          <p:nvPr/>
        </p:nvCxnSpPr>
        <p:spPr>
          <a:xfrm rot="5400000">
            <a:off x="2730136" y="864870"/>
            <a:ext cx="12700" cy="2613660"/>
          </a:xfrm>
          <a:prstGeom prst="curvedConnector3">
            <a:avLst>
              <a:gd name="adj1" fmla="val 408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4CBB3ED-A0DE-461D-9644-AE3C5ABEC3FA}"/>
              </a:ext>
            </a:extLst>
          </p:cNvPr>
          <p:cNvSpPr txBox="1"/>
          <p:nvPr/>
        </p:nvSpPr>
        <p:spPr>
          <a:xfrm>
            <a:off x="787036" y="1109762"/>
            <a:ext cx="35654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MKT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FCST(Marketing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Forecast) : </a:t>
            </a:r>
            <a:r>
              <a:rPr lang="ko-KR" altLang="en-US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수요계획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FECE7-B803-4979-BC8B-33576426DBD5}"/>
              </a:ext>
            </a:extLst>
          </p:cNvPr>
          <p:cNvSpPr txBox="1"/>
          <p:nvPr/>
        </p:nvSpPr>
        <p:spPr>
          <a:xfrm>
            <a:off x="623379" y="2699746"/>
            <a:ext cx="2948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RTF(Return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Forecast)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공급가능수량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E3DA15A2-1971-CFFB-AC93-A50295BDB79B}"/>
              </a:ext>
            </a:extLst>
          </p:cNvPr>
          <p:cNvCxnSpPr>
            <a:stCxn id="4" idx="2"/>
            <a:endCxn id="5" idx="2"/>
          </p:cNvCxnSpPr>
          <p:nvPr/>
        </p:nvCxnSpPr>
        <p:spPr>
          <a:xfrm rot="16200000" flipH="1">
            <a:off x="2730136" y="864870"/>
            <a:ext cx="12700" cy="2613660"/>
          </a:xfrm>
          <a:prstGeom prst="bentConnector3">
            <a:avLst>
              <a:gd name="adj1" fmla="val 8108567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2D9BD97-547B-A916-9B4F-CCF272D30B8A}"/>
              </a:ext>
            </a:extLst>
          </p:cNvPr>
          <p:cNvSpPr txBox="1"/>
          <p:nvPr/>
        </p:nvSpPr>
        <p:spPr>
          <a:xfrm>
            <a:off x="2548536" y="3272765"/>
            <a:ext cx="26281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DM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Sales Plan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화면에서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RTF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수정값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개요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814872" y="1146826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Sales Site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E636F9C-E585-4D89-8FC8-0BAC366A722F}"/>
              </a:ext>
            </a:extLst>
          </p:cNvPr>
          <p:cNvSpPr/>
          <p:nvPr/>
        </p:nvSpPr>
        <p:spPr>
          <a:xfrm>
            <a:off x="1938132" y="2381618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SSPM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9332039-5288-4B53-B438-16E427532E75}"/>
              </a:ext>
            </a:extLst>
          </p:cNvPr>
          <p:cNvSpPr/>
          <p:nvPr/>
        </p:nvSpPr>
        <p:spPr>
          <a:xfrm>
            <a:off x="3120412" y="3695414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Sales Price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52891F0-50F3-4E9A-9086-FC8592CED25E}"/>
              </a:ext>
            </a:extLst>
          </p:cNvPr>
          <p:cNvSpPr/>
          <p:nvPr/>
        </p:nvSpPr>
        <p:spPr>
          <a:xfrm>
            <a:off x="5235058" y="2372610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Mkt </a:t>
            </a:r>
            <a:r>
              <a:rPr lang="en-US" altLang="ko-KR" dirty="0" err="1">
                <a:solidFill>
                  <a:schemeClr val="tx1"/>
                </a:solidFill>
              </a:rPr>
              <a:t>Fcst</a:t>
            </a:r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5E1FBE9-25DD-4117-B7C3-897D1E78B50C}"/>
              </a:ext>
            </a:extLst>
          </p:cNvPr>
          <p:cNvSpPr/>
          <p:nvPr/>
        </p:nvSpPr>
        <p:spPr>
          <a:xfrm>
            <a:off x="6024650" y="3632607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Sales Plan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9EC7FB-AE5B-4B31-AD68-03F4431C16AF}"/>
              </a:ext>
            </a:extLst>
          </p:cNvPr>
          <p:cNvSpPr/>
          <p:nvPr/>
        </p:nvSpPr>
        <p:spPr>
          <a:xfrm>
            <a:off x="8049036" y="2372610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MF Cutoff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0956A90-7F67-497E-AC8C-E776F833D3DD}"/>
              </a:ext>
            </a:extLst>
          </p:cNvPr>
          <p:cNvSpPr/>
          <p:nvPr/>
        </p:nvSpPr>
        <p:spPr>
          <a:xfrm>
            <a:off x="8049036" y="3632607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SP Cutoff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생성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276BF6F-08E3-49A9-9669-B3935017DE3B}"/>
              </a:ext>
            </a:extLst>
          </p:cNvPr>
          <p:cNvSpPr/>
          <p:nvPr/>
        </p:nvSpPr>
        <p:spPr>
          <a:xfrm>
            <a:off x="10073422" y="3628183"/>
            <a:ext cx="1507662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Sales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Report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작성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DD98767-A497-4A78-B373-BC7E65CA41F5}"/>
              </a:ext>
            </a:extLst>
          </p:cNvPr>
          <p:cNvSpPr/>
          <p:nvPr/>
        </p:nvSpPr>
        <p:spPr>
          <a:xfrm>
            <a:off x="6024650" y="4892604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Biz Plan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등록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A4AA20A-01C2-4DAA-B831-CD14D3ED840B}"/>
              </a:ext>
            </a:extLst>
          </p:cNvPr>
          <p:cNvSpPr/>
          <p:nvPr/>
        </p:nvSpPr>
        <p:spPr>
          <a:xfrm>
            <a:off x="8049036" y="4892604"/>
            <a:ext cx="1272540" cy="609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BP Cutoff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생성</a:t>
            </a:r>
          </a:p>
        </p:txBody>
      </p:sp>
      <p:cxnSp>
        <p:nvCxnSpPr>
          <p:cNvPr id="9" name="연결선: 꺾임 8">
            <a:extLst>
              <a:ext uri="{FF2B5EF4-FFF2-40B4-BE49-F238E27FC236}">
                <a16:creationId xmlns:a16="http://schemas.microsoft.com/office/drawing/2014/main" id="{89E06ADB-6A7C-425E-B4E4-25BBD18E3AC1}"/>
              </a:ext>
            </a:extLst>
          </p:cNvPr>
          <p:cNvCxnSpPr>
            <a:cxnSpLocks/>
            <a:stCxn id="4" idx="2"/>
            <a:endCxn id="11" idx="1"/>
          </p:cNvCxnSpPr>
          <p:nvPr/>
        </p:nvCxnSpPr>
        <p:spPr>
          <a:xfrm rot="16200000" flipH="1">
            <a:off x="1229641" y="1977927"/>
            <a:ext cx="929992" cy="48699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8D3190ED-9326-40BD-B360-95757803153A}"/>
              </a:ext>
            </a:extLst>
          </p:cNvPr>
          <p:cNvCxnSpPr>
            <a:cxnSpLocks/>
            <a:stCxn id="11" idx="2"/>
            <a:endCxn id="13" idx="1"/>
          </p:cNvCxnSpPr>
          <p:nvPr/>
        </p:nvCxnSpPr>
        <p:spPr>
          <a:xfrm rot="16200000" flipH="1">
            <a:off x="2342909" y="3222711"/>
            <a:ext cx="1008996" cy="54601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30A92121-B3E6-4C49-801E-4B5EFCB545CA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 flipV="1">
            <a:off x="4392952" y="2677410"/>
            <a:ext cx="842106" cy="132280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13BA3F9D-74AB-4F76-9C18-BD35AEE0EED2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6507598" y="2677410"/>
            <a:ext cx="15414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163EA840-898F-4985-A6C7-72CB6301C72D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7297190" y="5197404"/>
            <a:ext cx="751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5D42D84-39CE-4157-9262-E5F8E9A62C5F}"/>
              </a:ext>
            </a:extLst>
          </p:cNvPr>
          <p:cNvCxnSpPr>
            <a:cxnSpLocks/>
            <a:stCxn id="15" idx="3"/>
            <a:endCxn id="17" idx="1"/>
          </p:cNvCxnSpPr>
          <p:nvPr/>
        </p:nvCxnSpPr>
        <p:spPr>
          <a:xfrm>
            <a:off x="7297190" y="3937407"/>
            <a:ext cx="7518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B8CF6E4-796D-42B5-BD57-A0C45CE2866A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9321576" y="3932983"/>
            <a:ext cx="751846" cy="4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연결선: 꺾임 45">
            <a:extLst>
              <a:ext uri="{FF2B5EF4-FFF2-40B4-BE49-F238E27FC236}">
                <a16:creationId xmlns:a16="http://schemas.microsoft.com/office/drawing/2014/main" id="{DAB6CF7A-3112-4E59-914D-C64DCCA25A82}"/>
              </a:ext>
            </a:extLst>
          </p:cNvPr>
          <p:cNvCxnSpPr>
            <a:cxnSpLocks/>
            <a:stCxn id="21" idx="3"/>
            <a:endCxn id="18" idx="1"/>
          </p:cNvCxnSpPr>
          <p:nvPr/>
        </p:nvCxnSpPr>
        <p:spPr>
          <a:xfrm flipV="1">
            <a:off x="9321576" y="3932983"/>
            <a:ext cx="751846" cy="126442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연결선: 꺾임 48">
            <a:extLst>
              <a:ext uri="{FF2B5EF4-FFF2-40B4-BE49-F238E27FC236}">
                <a16:creationId xmlns:a16="http://schemas.microsoft.com/office/drawing/2014/main" id="{24D25D01-1916-4761-982C-1CB55C8E1B4B}"/>
              </a:ext>
            </a:extLst>
          </p:cNvPr>
          <p:cNvCxnSpPr>
            <a:cxnSpLocks/>
            <a:stCxn id="16" idx="3"/>
            <a:endCxn id="18" idx="1"/>
          </p:cNvCxnSpPr>
          <p:nvPr/>
        </p:nvCxnSpPr>
        <p:spPr>
          <a:xfrm>
            <a:off x="9321576" y="2677410"/>
            <a:ext cx="751846" cy="125557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63F13CE-6847-4242-90F1-96C38C4A498B}"/>
              </a:ext>
            </a:extLst>
          </p:cNvPr>
          <p:cNvSpPr txBox="1"/>
          <p:nvPr/>
        </p:nvSpPr>
        <p:spPr>
          <a:xfrm>
            <a:off x="2087412" y="1234122"/>
            <a:ext cx="8018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고객 등록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AB243B5-6CB4-443D-9E52-4C2524D0E5B1}"/>
              </a:ext>
            </a:extLst>
          </p:cNvPr>
          <p:cNvSpPr txBox="1"/>
          <p:nvPr/>
        </p:nvSpPr>
        <p:spPr>
          <a:xfrm>
            <a:off x="1962808" y="3005118"/>
            <a:ext cx="795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모델 등록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3E5503-9FB0-4F19-A59F-5E5A375C761D}"/>
              </a:ext>
            </a:extLst>
          </p:cNvPr>
          <p:cNvSpPr txBox="1"/>
          <p:nvPr/>
        </p:nvSpPr>
        <p:spPr>
          <a:xfrm>
            <a:off x="3120412" y="4313439"/>
            <a:ext cx="7954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판가 등록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C41D2DE-A2B1-4342-8BFE-CB3EF906B8FB}"/>
              </a:ext>
            </a:extLst>
          </p:cNvPr>
          <p:cNvSpPr txBox="1"/>
          <p:nvPr/>
        </p:nvSpPr>
        <p:spPr>
          <a:xfrm>
            <a:off x="5229239" y="2996343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판매계획 등록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69EEC8E-9061-4205-A62E-ED8038617CC2}"/>
              </a:ext>
            </a:extLst>
          </p:cNvPr>
          <p:cNvSpPr txBox="1"/>
          <p:nvPr/>
        </p:nvSpPr>
        <p:spPr>
          <a:xfrm>
            <a:off x="6024650" y="4249129"/>
            <a:ext cx="1475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매출계획</a:t>
            </a:r>
            <a:r>
              <a:rPr lang="en-US" altLang="ko-KR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(</a:t>
            </a:r>
            <a:r>
              <a:rPr lang="ko-KR" altLang="en-US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금액</a:t>
            </a:r>
            <a:r>
              <a:rPr lang="en-US" altLang="ko-KR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)</a:t>
            </a:r>
            <a:r>
              <a:rPr lang="ko-KR" altLang="en-US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생성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ED36685-CA91-4FBE-AA29-A3E2DF5256F9}"/>
              </a:ext>
            </a:extLst>
          </p:cNvPr>
          <p:cNvSpPr txBox="1"/>
          <p:nvPr/>
        </p:nvSpPr>
        <p:spPr>
          <a:xfrm>
            <a:off x="6024650" y="5502204"/>
            <a:ext cx="10807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사업계획 등록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BB7B12A-74BC-CEE7-315D-71E2B0A9D234}"/>
              </a:ext>
            </a:extLst>
          </p:cNvPr>
          <p:cNvSpPr/>
          <p:nvPr/>
        </p:nvSpPr>
        <p:spPr>
          <a:xfrm>
            <a:off x="10525125" y="2221422"/>
            <a:ext cx="1349828" cy="505098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BPS I/F</a:t>
            </a:r>
            <a:endParaRPr lang="ko-KR" altLang="en-US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39F9F8CE-2F22-D23F-B655-5DB285DABACD}"/>
              </a:ext>
            </a:extLst>
          </p:cNvPr>
          <p:cNvCxnSpPr>
            <a:stCxn id="16" idx="3"/>
            <a:endCxn id="17" idx="3"/>
          </p:cNvCxnSpPr>
          <p:nvPr/>
        </p:nvCxnSpPr>
        <p:spPr>
          <a:xfrm>
            <a:off x="9321576" y="2677410"/>
            <a:ext cx="12700" cy="1259997"/>
          </a:xfrm>
          <a:prstGeom prst="bentConnector3">
            <a:avLst>
              <a:gd name="adj1" fmla="val 4337150"/>
            </a:avLst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D0FFBADA-FD90-28DA-7FB1-A4FA1FF4B929}"/>
              </a:ext>
            </a:extLst>
          </p:cNvPr>
          <p:cNvCxnSpPr>
            <a:cxnSpLocks/>
            <a:endCxn id="5" idx="1"/>
          </p:cNvCxnSpPr>
          <p:nvPr/>
        </p:nvCxnSpPr>
        <p:spPr>
          <a:xfrm rot="5400000" flipH="1" flipV="1">
            <a:off x="9973085" y="2730078"/>
            <a:ext cx="808146" cy="295933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FB6B8E97-F65B-C551-2477-4AB8DC667D5E}"/>
              </a:ext>
            </a:extLst>
          </p:cNvPr>
          <p:cNvCxnSpPr/>
          <p:nvPr/>
        </p:nvCxnSpPr>
        <p:spPr>
          <a:xfrm flipH="1">
            <a:off x="9866811" y="3273342"/>
            <a:ext cx="36238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3FEACCF-072A-0D6B-4B53-9ABF6511C67E}"/>
              </a:ext>
            </a:extLst>
          </p:cNvPr>
          <p:cNvSpPr/>
          <p:nvPr/>
        </p:nvSpPr>
        <p:spPr>
          <a:xfrm>
            <a:off x="7802880" y="2221422"/>
            <a:ext cx="1716310" cy="921144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1B4B5B12-D3BD-9053-78D2-EF7B7DE1F102}"/>
              </a:ext>
            </a:extLst>
          </p:cNvPr>
          <p:cNvSpPr/>
          <p:nvPr/>
        </p:nvSpPr>
        <p:spPr>
          <a:xfrm>
            <a:off x="8821783" y="1053737"/>
            <a:ext cx="2325188" cy="606858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NET DEMAND </a:t>
            </a:r>
            <a:r>
              <a:rPr lang="ko-KR" altLang="en-US" dirty="0"/>
              <a:t>생성</a:t>
            </a:r>
            <a:endParaRPr lang="en-US" altLang="ko-KR" dirty="0"/>
          </a:p>
          <a:p>
            <a:pPr algn="ctr"/>
            <a:r>
              <a:rPr lang="en-US" altLang="ko-KR" dirty="0"/>
              <a:t>(SCP </a:t>
            </a:r>
            <a:r>
              <a:rPr lang="ko-KR" altLang="en-US" dirty="0"/>
              <a:t>계획데이터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44" name="연결선: 꺾임 43">
            <a:extLst>
              <a:ext uri="{FF2B5EF4-FFF2-40B4-BE49-F238E27FC236}">
                <a16:creationId xmlns:a16="http://schemas.microsoft.com/office/drawing/2014/main" id="{19353EB3-67FD-8458-0C74-F739624B2D51}"/>
              </a:ext>
            </a:extLst>
          </p:cNvPr>
          <p:cNvCxnSpPr>
            <a:stCxn id="39" idx="0"/>
            <a:endCxn id="41" idx="2"/>
          </p:cNvCxnSpPr>
          <p:nvPr/>
        </p:nvCxnSpPr>
        <p:spPr>
          <a:xfrm rot="5400000" flipH="1" flipV="1">
            <a:off x="9042293" y="1279338"/>
            <a:ext cx="560827" cy="1323342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9009C6B-61B8-CA03-96D4-82D70751C201}"/>
              </a:ext>
            </a:extLst>
          </p:cNvPr>
          <p:cNvSpPr/>
          <p:nvPr/>
        </p:nvSpPr>
        <p:spPr>
          <a:xfrm>
            <a:off x="5817326" y="3429000"/>
            <a:ext cx="1776548" cy="1186601"/>
          </a:xfrm>
          <a:prstGeom prst="rect">
            <a:avLst/>
          </a:prstGeom>
          <a:noFill/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E7C2FB0-FDC9-9636-AE77-4248C3733986}"/>
              </a:ext>
            </a:extLst>
          </p:cNvPr>
          <p:cNvSpPr/>
          <p:nvPr/>
        </p:nvSpPr>
        <p:spPr>
          <a:xfrm>
            <a:off x="3422469" y="5062391"/>
            <a:ext cx="1850335" cy="439813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RTF </a:t>
            </a:r>
            <a:r>
              <a:rPr lang="ko-KR" altLang="en-US" dirty="0"/>
              <a:t>수정</a:t>
            </a: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1646C187-7AB7-EDEB-9730-3230F56E45AC}"/>
              </a:ext>
            </a:extLst>
          </p:cNvPr>
          <p:cNvCxnSpPr>
            <a:cxnSpLocks/>
            <a:stCxn id="45" idx="1"/>
            <a:endCxn id="47" idx="3"/>
          </p:cNvCxnSpPr>
          <p:nvPr/>
        </p:nvCxnSpPr>
        <p:spPr>
          <a:xfrm rot="10800000" flipV="1">
            <a:off x="5272804" y="4022300"/>
            <a:ext cx="544522" cy="1259997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9C4DC61-9328-F946-D9EB-B9F1E93D2E5A}"/>
              </a:ext>
            </a:extLst>
          </p:cNvPr>
          <p:cNvSpPr/>
          <p:nvPr/>
        </p:nvSpPr>
        <p:spPr>
          <a:xfrm>
            <a:off x="9931899" y="3502112"/>
            <a:ext cx="1816746" cy="959962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1675E86F-108B-EFDF-848F-DCA8D3666A28}"/>
              </a:ext>
            </a:extLst>
          </p:cNvPr>
          <p:cNvSpPr/>
          <p:nvPr/>
        </p:nvSpPr>
        <p:spPr>
          <a:xfrm>
            <a:off x="10093630" y="4917116"/>
            <a:ext cx="1501412" cy="50509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GDW I/F</a:t>
            </a:r>
            <a:endParaRPr lang="ko-KR" altLang="en-US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87170024-E2B5-0A32-2D74-7CE8C4FED852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>
            <a:off x="10840272" y="4462074"/>
            <a:ext cx="4064" cy="455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00FA439-AAB1-E4C7-4D46-10549A447750}"/>
              </a:ext>
            </a:extLst>
          </p:cNvPr>
          <p:cNvSpPr txBox="1"/>
          <p:nvPr/>
        </p:nvSpPr>
        <p:spPr>
          <a:xfrm>
            <a:off x="7767162" y="5524335"/>
            <a:ext cx="193033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사용자가 직접 </a:t>
            </a:r>
            <a:r>
              <a:rPr lang="en-US" altLang="ko-KR" sz="1000" dirty="0">
                <a:solidFill>
                  <a:srgbClr val="FF0000"/>
                </a:solidFill>
              </a:rPr>
              <a:t>CUTOFF </a:t>
            </a:r>
            <a:r>
              <a:rPr lang="ko-KR" altLang="en-US" sz="1000" dirty="0">
                <a:solidFill>
                  <a:srgbClr val="FF0000"/>
                </a:solidFill>
              </a:rPr>
              <a:t>버튼 클릭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674DE-C678-DE2D-E75E-6E8C91CB877F}"/>
              </a:ext>
            </a:extLst>
          </p:cNvPr>
          <p:cNvSpPr txBox="1"/>
          <p:nvPr/>
        </p:nvSpPr>
        <p:spPr>
          <a:xfrm>
            <a:off x="8323442" y="4239118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배치 실행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10C3A0-226F-0E46-8292-E83E1BF1D505}"/>
              </a:ext>
            </a:extLst>
          </p:cNvPr>
          <p:cNvSpPr txBox="1"/>
          <p:nvPr/>
        </p:nvSpPr>
        <p:spPr>
          <a:xfrm>
            <a:off x="8347714" y="2949819"/>
            <a:ext cx="67518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srgbClr val="FF0000"/>
                </a:solidFill>
              </a:rPr>
              <a:t>배치 실행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6724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DM </a:t>
            </a:r>
            <a:r>
              <a:rPr lang="ko-KR" altLang="en-US"/>
              <a:t>전체 데이터 흐름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938308" y="3630053"/>
            <a:ext cx="236314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DM_PLN_SALES_PLAN_REPORT_C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37289" y="3095862"/>
            <a:ext cx="1470274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/>
              <a:t>DM_PLN_MKT_FCST</a:t>
            </a:r>
            <a:endParaRPr lang="ko-KR" altLang="en-US" sz="1100"/>
          </a:p>
        </p:txBody>
      </p:sp>
      <p:cxnSp>
        <p:nvCxnSpPr>
          <p:cNvPr id="151" name="꺾인 연결선 150"/>
          <p:cNvCxnSpPr>
            <a:stCxn id="145" idx="2"/>
            <a:endCxn id="22" idx="1"/>
          </p:cNvCxnSpPr>
          <p:nvPr/>
        </p:nvCxnSpPr>
        <p:spPr>
          <a:xfrm rot="16200000" flipH="1">
            <a:off x="1359095" y="3170802"/>
            <a:ext cx="260927" cy="63426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806691" y="3487594"/>
            <a:ext cx="1622560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DM_PLN_SALES_PLAN</a:t>
            </a:r>
            <a:endParaRPr lang="ko-KR" altLang="en-US" sz="1100" dirty="0"/>
          </a:p>
        </p:txBody>
      </p:sp>
      <p:sp>
        <p:nvSpPr>
          <p:cNvPr id="25" name="TextBox 24"/>
          <p:cNvSpPr txBox="1"/>
          <p:nvPr/>
        </p:nvSpPr>
        <p:spPr>
          <a:xfrm>
            <a:off x="3890722" y="3095861"/>
            <a:ext cx="1625766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/>
              <a:t>DM_PLN_MKT_FCST_C</a:t>
            </a:r>
            <a:endParaRPr lang="ko-KR" altLang="en-US" sz="1100"/>
          </a:p>
        </p:txBody>
      </p:sp>
      <p:sp>
        <p:nvSpPr>
          <p:cNvPr id="26" name="TextBox 25"/>
          <p:cNvSpPr txBox="1"/>
          <p:nvPr/>
        </p:nvSpPr>
        <p:spPr>
          <a:xfrm>
            <a:off x="4919598" y="3487593"/>
            <a:ext cx="1778051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/>
              <a:t>DM_PLN_SALES_PLAN_C</a:t>
            </a:r>
            <a:endParaRPr lang="ko-KR" altLang="en-US" sz="1100"/>
          </a:p>
        </p:txBody>
      </p:sp>
      <p:sp>
        <p:nvSpPr>
          <p:cNvPr id="27" name="TextBox 26"/>
          <p:cNvSpPr txBox="1"/>
          <p:nvPr/>
        </p:nvSpPr>
        <p:spPr>
          <a:xfrm>
            <a:off x="1481435" y="4654639"/>
            <a:ext cx="218200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/>
              <a:t>DM_PLN_MKT_FCST_RESULT</a:t>
            </a:r>
            <a:endParaRPr lang="ko-KR" altLang="en-US" sz="1100"/>
          </a:p>
        </p:txBody>
      </p:sp>
      <p:sp>
        <p:nvSpPr>
          <p:cNvPr id="28" name="TextBox 27"/>
          <p:cNvSpPr txBox="1"/>
          <p:nvPr/>
        </p:nvSpPr>
        <p:spPr>
          <a:xfrm>
            <a:off x="1481435" y="5668259"/>
            <a:ext cx="2182008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/>
              <a:t>DM_PLN_SALES_PLAN_RESULT</a:t>
            </a:r>
            <a:endParaRPr lang="ko-KR" altLang="en-US" sz="1100"/>
          </a:p>
        </p:txBody>
      </p:sp>
      <p:sp>
        <p:nvSpPr>
          <p:cNvPr id="29" name="TextBox 28"/>
          <p:cNvSpPr txBox="1"/>
          <p:nvPr/>
        </p:nvSpPr>
        <p:spPr>
          <a:xfrm>
            <a:off x="3890722" y="5169729"/>
            <a:ext cx="2182007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/>
              <a:t>DM_PLN_MKT_FCST_RESULT_C</a:t>
            </a:r>
            <a:endParaRPr lang="ko-KR" altLang="en-US" sz="1100"/>
          </a:p>
        </p:txBody>
      </p:sp>
      <p:sp>
        <p:nvSpPr>
          <p:cNvPr id="30" name="TextBox 29"/>
          <p:cNvSpPr txBox="1"/>
          <p:nvPr/>
        </p:nvSpPr>
        <p:spPr>
          <a:xfrm>
            <a:off x="4652043" y="6244732"/>
            <a:ext cx="233749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/>
              <a:t>DM_PLN_SALES_PLAN_RESULT_C</a:t>
            </a:r>
            <a:endParaRPr lang="ko-KR" altLang="en-US" sz="1100"/>
          </a:p>
        </p:txBody>
      </p:sp>
      <p:cxnSp>
        <p:nvCxnSpPr>
          <p:cNvPr id="35" name="꺾인 연결선 34"/>
          <p:cNvCxnSpPr>
            <a:stCxn id="145" idx="3"/>
            <a:endCxn id="25" idx="1"/>
          </p:cNvCxnSpPr>
          <p:nvPr/>
        </p:nvCxnSpPr>
        <p:spPr>
          <a:xfrm flipV="1">
            <a:off x="1907563" y="3226666"/>
            <a:ext cx="1983159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 37"/>
          <p:cNvCxnSpPr>
            <a:cxnSpLocks/>
            <a:stCxn id="22" idx="3"/>
            <a:endCxn id="26" idx="1"/>
          </p:cNvCxnSpPr>
          <p:nvPr/>
        </p:nvCxnSpPr>
        <p:spPr>
          <a:xfrm flipV="1">
            <a:off x="3429251" y="3618398"/>
            <a:ext cx="1490347" cy="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27" idx="2"/>
            <a:endCxn id="29" idx="1"/>
          </p:cNvCxnSpPr>
          <p:nvPr/>
        </p:nvCxnSpPr>
        <p:spPr>
          <a:xfrm rot="16200000" flipH="1">
            <a:off x="3039438" y="4449249"/>
            <a:ext cx="384285" cy="131828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28" idx="2"/>
            <a:endCxn id="30" idx="1"/>
          </p:cNvCxnSpPr>
          <p:nvPr/>
        </p:nvCxnSpPr>
        <p:spPr>
          <a:xfrm rot="16200000" flipH="1">
            <a:off x="3389407" y="5112901"/>
            <a:ext cx="445668" cy="207960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타원 50"/>
          <p:cNvSpPr/>
          <p:nvPr/>
        </p:nvSpPr>
        <p:spPr>
          <a:xfrm>
            <a:off x="390432" y="4952908"/>
            <a:ext cx="715351" cy="715351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ERP</a:t>
            </a:r>
            <a:endParaRPr lang="ko-KR" altLang="en-US" sz="1100"/>
          </a:p>
        </p:txBody>
      </p:sp>
      <p:cxnSp>
        <p:nvCxnSpPr>
          <p:cNvPr id="52" name="꺾인 연결선 51"/>
          <p:cNvCxnSpPr>
            <a:stCxn id="51" idx="4"/>
            <a:endCxn id="28" idx="1"/>
          </p:cNvCxnSpPr>
          <p:nvPr/>
        </p:nvCxnSpPr>
        <p:spPr>
          <a:xfrm rot="16200000" flipH="1">
            <a:off x="1049369" y="5366997"/>
            <a:ext cx="130805" cy="7333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꺾인 연결선 54"/>
          <p:cNvCxnSpPr>
            <a:stCxn id="51" idx="0"/>
            <a:endCxn id="27" idx="1"/>
          </p:cNvCxnSpPr>
          <p:nvPr/>
        </p:nvCxnSpPr>
        <p:spPr>
          <a:xfrm rot="5400000" flipH="1" flipV="1">
            <a:off x="1031039" y="4502513"/>
            <a:ext cx="167464" cy="73332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3890722" y="2266347"/>
            <a:ext cx="1513556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DM_PLN_BP_FCST_C</a:t>
            </a:r>
            <a:endParaRPr lang="ko-KR" altLang="en-US" sz="1100"/>
          </a:p>
        </p:txBody>
      </p:sp>
      <p:sp>
        <p:nvSpPr>
          <p:cNvPr id="61" name="TextBox 60"/>
          <p:cNvSpPr txBox="1"/>
          <p:nvPr/>
        </p:nvSpPr>
        <p:spPr>
          <a:xfrm>
            <a:off x="437289" y="2260296"/>
            <a:ext cx="1358064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DM_PLN_BP_FCST</a:t>
            </a:r>
            <a:endParaRPr lang="ko-KR" altLang="en-US" sz="1100" dirty="0"/>
          </a:p>
        </p:txBody>
      </p:sp>
      <p:cxnSp>
        <p:nvCxnSpPr>
          <p:cNvPr id="62" name="꺾인 연결선 61"/>
          <p:cNvCxnSpPr>
            <a:stCxn id="61" idx="3"/>
            <a:endCxn id="59" idx="1"/>
          </p:cNvCxnSpPr>
          <p:nvPr/>
        </p:nvCxnSpPr>
        <p:spPr>
          <a:xfrm>
            <a:off x="1795353" y="2391101"/>
            <a:ext cx="2095369" cy="605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구부러진 연결선 65"/>
          <p:cNvCxnSpPr>
            <a:stCxn id="59" idx="3"/>
            <a:endCxn id="85" idx="1"/>
          </p:cNvCxnSpPr>
          <p:nvPr/>
        </p:nvCxnSpPr>
        <p:spPr>
          <a:xfrm>
            <a:off x="5404278" y="2397152"/>
            <a:ext cx="2534030" cy="13637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구부러진 연결선 69"/>
          <p:cNvCxnSpPr>
            <a:stCxn id="25" idx="3"/>
            <a:endCxn id="85" idx="1"/>
          </p:cNvCxnSpPr>
          <p:nvPr/>
        </p:nvCxnSpPr>
        <p:spPr>
          <a:xfrm>
            <a:off x="5516488" y="3226666"/>
            <a:ext cx="2421820" cy="53419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구부러진 연결선 72"/>
          <p:cNvCxnSpPr>
            <a:stCxn id="26" idx="3"/>
            <a:endCxn id="85" idx="1"/>
          </p:cNvCxnSpPr>
          <p:nvPr/>
        </p:nvCxnSpPr>
        <p:spPr>
          <a:xfrm>
            <a:off x="6697649" y="3618398"/>
            <a:ext cx="1240659" cy="14246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구부러진 연결선 75"/>
          <p:cNvCxnSpPr>
            <a:stCxn id="29" idx="3"/>
            <a:endCxn id="85" idx="1"/>
          </p:cNvCxnSpPr>
          <p:nvPr/>
        </p:nvCxnSpPr>
        <p:spPr>
          <a:xfrm flipV="1">
            <a:off x="6072729" y="3760858"/>
            <a:ext cx="1865579" cy="15396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구부러진 연결선 78"/>
          <p:cNvCxnSpPr>
            <a:stCxn id="30" idx="3"/>
            <a:endCxn id="85" idx="1"/>
          </p:cNvCxnSpPr>
          <p:nvPr/>
        </p:nvCxnSpPr>
        <p:spPr>
          <a:xfrm flipV="1">
            <a:off x="6989542" y="3760858"/>
            <a:ext cx="948766" cy="26146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구부러진 연결선 83"/>
          <p:cNvCxnSpPr>
            <a:stCxn id="28" idx="3"/>
            <a:endCxn id="85" idx="1"/>
          </p:cNvCxnSpPr>
          <p:nvPr/>
        </p:nvCxnSpPr>
        <p:spPr>
          <a:xfrm flipV="1">
            <a:off x="3663443" y="3760858"/>
            <a:ext cx="4274865" cy="203820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구부러진 연결선 87"/>
          <p:cNvCxnSpPr>
            <a:stCxn id="27" idx="3"/>
            <a:endCxn id="85" idx="1"/>
          </p:cNvCxnSpPr>
          <p:nvPr/>
        </p:nvCxnSpPr>
        <p:spPr>
          <a:xfrm flipV="1">
            <a:off x="3663442" y="3760858"/>
            <a:ext cx="4274866" cy="102458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7906356" y="4715976"/>
            <a:ext cx="225734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DM_PLN_SALES_ETC_REPORT_C</a:t>
            </a:r>
          </a:p>
        </p:txBody>
      </p:sp>
      <p:cxnSp>
        <p:nvCxnSpPr>
          <p:cNvPr id="99" name="꺾인 연결선 98"/>
          <p:cNvCxnSpPr>
            <a:stCxn id="98" idx="3"/>
            <a:endCxn id="102" idx="2"/>
          </p:cNvCxnSpPr>
          <p:nvPr/>
        </p:nvCxnSpPr>
        <p:spPr>
          <a:xfrm flipV="1">
            <a:off x="10163705" y="4350763"/>
            <a:ext cx="916814" cy="496018"/>
          </a:xfrm>
          <a:prstGeom prst="bentConnector3">
            <a:avLst>
              <a:gd name="adj1" fmla="val 5535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타원 101"/>
          <p:cNvSpPr/>
          <p:nvPr/>
        </p:nvSpPr>
        <p:spPr>
          <a:xfrm>
            <a:off x="11080519" y="3965150"/>
            <a:ext cx="771225" cy="771225"/>
          </a:xfrm>
          <a:prstGeom prst="ellips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GDW</a:t>
            </a:r>
            <a:endParaRPr lang="ko-KR" altLang="en-US" sz="1100"/>
          </a:p>
        </p:txBody>
      </p:sp>
      <p:cxnSp>
        <p:nvCxnSpPr>
          <p:cNvPr id="105" name="꺾인 연결선 104"/>
          <p:cNvCxnSpPr>
            <a:stCxn id="85" idx="3"/>
            <a:endCxn id="102" idx="2"/>
          </p:cNvCxnSpPr>
          <p:nvPr/>
        </p:nvCxnSpPr>
        <p:spPr>
          <a:xfrm>
            <a:off x="10301455" y="3760858"/>
            <a:ext cx="779064" cy="58990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구부러진 연결선 109"/>
          <p:cNvCxnSpPr>
            <a:stCxn id="85" idx="3"/>
            <a:endCxn id="114" idx="2"/>
          </p:cNvCxnSpPr>
          <p:nvPr/>
        </p:nvCxnSpPr>
        <p:spPr>
          <a:xfrm flipV="1">
            <a:off x="10301455" y="3042669"/>
            <a:ext cx="869887" cy="718189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구부러진 연결선 111"/>
          <p:cNvCxnSpPr>
            <a:stCxn id="98" idx="3"/>
            <a:endCxn id="114" idx="2"/>
          </p:cNvCxnSpPr>
          <p:nvPr/>
        </p:nvCxnSpPr>
        <p:spPr>
          <a:xfrm flipV="1">
            <a:off x="10163705" y="3042669"/>
            <a:ext cx="1007637" cy="180411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모서리가 둥근 직사각형 113"/>
          <p:cNvSpPr/>
          <p:nvPr/>
        </p:nvSpPr>
        <p:spPr>
          <a:xfrm>
            <a:off x="10360062" y="2699334"/>
            <a:ext cx="1622559" cy="343335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해외법인기여매출</a:t>
            </a:r>
            <a:endParaRPr lang="en-US" altLang="ko-KR" sz="1100" b="1">
              <a:solidFill>
                <a:schemeClr val="tx1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29ED5-C2EE-D67A-520B-C908E557ABF3}"/>
              </a:ext>
            </a:extLst>
          </p:cNvPr>
          <p:cNvSpPr txBox="1"/>
          <p:nvPr/>
        </p:nvSpPr>
        <p:spPr>
          <a:xfrm>
            <a:off x="437289" y="4005713"/>
            <a:ext cx="193674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DM_PLN_SALES_ETC_PLAN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4" name="꺾인 연결선 37">
            <a:extLst>
              <a:ext uri="{FF2B5EF4-FFF2-40B4-BE49-F238E27FC236}">
                <a16:creationId xmlns:a16="http://schemas.microsoft.com/office/drawing/2014/main" id="{85CBFCB1-2665-837A-7B8C-9E18EB32E6A6}"/>
              </a:ext>
            </a:extLst>
          </p:cNvPr>
          <p:cNvCxnSpPr>
            <a:cxnSpLocks/>
          </p:cNvCxnSpPr>
          <p:nvPr/>
        </p:nvCxnSpPr>
        <p:spPr>
          <a:xfrm flipV="1">
            <a:off x="2374949" y="4116930"/>
            <a:ext cx="1237292" cy="1746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F82A1C8-D36B-6A61-F670-28F032397F91}"/>
              </a:ext>
            </a:extLst>
          </p:cNvPr>
          <p:cNvSpPr txBox="1"/>
          <p:nvPr/>
        </p:nvSpPr>
        <p:spPr>
          <a:xfrm>
            <a:off x="3612241" y="3970600"/>
            <a:ext cx="209223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DM_PLN_SALES_ETC_PLAN_C</a:t>
            </a:r>
            <a:endParaRPr lang="ko-KR" alt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31D4F1-9DD0-185E-83DE-7ADBB697CD23}"/>
              </a:ext>
            </a:extLst>
          </p:cNvPr>
          <p:cNvSpPr txBox="1"/>
          <p:nvPr/>
        </p:nvSpPr>
        <p:spPr>
          <a:xfrm>
            <a:off x="171524" y="2677854"/>
            <a:ext cx="2739853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altLang="ko-KR" sz="1200" dirty="0">
                <a:solidFill>
                  <a:srgbClr val="000000"/>
                </a:solidFill>
                <a:latin typeface="+mn-ea"/>
              </a:rPr>
              <a:t>DM_PLN_CFM_MKT_DEMAND_PLAN</a:t>
            </a:r>
            <a:endParaRPr lang="ko-KR" altLang="en-US" sz="1200" dirty="0">
              <a:latin typeface="+mn-e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1AE1FF-310E-4D43-27B1-070AD9122ADF}"/>
              </a:ext>
            </a:extLst>
          </p:cNvPr>
          <p:cNvSpPr txBox="1"/>
          <p:nvPr/>
        </p:nvSpPr>
        <p:spPr>
          <a:xfrm>
            <a:off x="3149792" y="2682141"/>
            <a:ext cx="2911374" cy="2769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de-DE" altLang="ko-KR" sz="1200" dirty="0">
                <a:solidFill>
                  <a:srgbClr val="000000"/>
                </a:solidFill>
                <a:latin typeface="+mn-ea"/>
              </a:rPr>
              <a:t>DM_PLN_CFM_MKT_DEMAND_PLAN_C</a:t>
            </a:r>
            <a:endParaRPr lang="ko-KR" altLang="en-US" sz="1200" dirty="0">
              <a:latin typeface="+mn-ea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BFBA2A02-9568-1D2E-3E7E-DE6577D18D66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2911377" y="2816354"/>
            <a:ext cx="238415" cy="42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구부러진 연결선 87">
            <a:extLst>
              <a:ext uri="{FF2B5EF4-FFF2-40B4-BE49-F238E27FC236}">
                <a16:creationId xmlns:a16="http://schemas.microsoft.com/office/drawing/2014/main" id="{34B99B06-DD2B-380E-FE03-D9C23AE8498D}"/>
              </a:ext>
            </a:extLst>
          </p:cNvPr>
          <p:cNvCxnSpPr>
            <a:cxnSpLocks/>
            <a:stCxn id="5" idx="3"/>
            <a:endCxn id="85" idx="1"/>
          </p:cNvCxnSpPr>
          <p:nvPr/>
        </p:nvCxnSpPr>
        <p:spPr>
          <a:xfrm flipV="1">
            <a:off x="5704480" y="3760858"/>
            <a:ext cx="2233828" cy="34054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구부러진 연결선 69">
            <a:extLst>
              <a:ext uri="{FF2B5EF4-FFF2-40B4-BE49-F238E27FC236}">
                <a16:creationId xmlns:a16="http://schemas.microsoft.com/office/drawing/2014/main" id="{59642D24-6D07-7175-891C-89F66BF100CC}"/>
              </a:ext>
            </a:extLst>
          </p:cNvPr>
          <p:cNvCxnSpPr>
            <a:cxnSpLocks/>
            <a:stCxn id="8" idx="3"/>
            <a:endCxn id="85" idx="1"/>
          </p:cNvCxnSpPr>
          <p:nvPr/>
        </p:nvCxnSpPr>
        <p:spPr>
          <a:xfrm>
            <a:off x="6061166" y="2820641"/>
            <a:ext cx="1877142" cy="94021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CE850D8-8CCC-138B-BE3B-C91F013213D5}"/>
              </a:ext>
            </a:extLst>
          </p:cNvPr>
          <p:cNvSpPr/>
          <p:nvPr/>
        </p:nvSpPr>
        <p:spPr>
          <a:xfrm>
            <a:off x="7244987" y="199168"/>
            <a:ext cx="2794039" cy="349237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XIF_BPS_SALES_PLAN_S_SN</a:t>
            </a:r>
            <a:endParaRPr lang="ko-KR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3AA342-87AB-934C-1D0A-5158A045319B}"/>
              </a:ext>
            </a:extLst>
          </p:cNvPr>
          <p:cNvSpPr txBox="1"/>
          <p:nvPr/>
        </p:nvSpPr>
        <p:spPr>
          <a:xfrm>
            <a:off x="3489881" y="1906657"/>
            <a:ext cx="230949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DM_PLN_CFM_SELLING_PRICE_C</a:t>
            </a:r>
            <a:endParaRPr lang="ko-KR" altLang="en-US" sz="11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75EF8E-BE87-A15A-45EF-DF0A0456FA48}"/>
              </a:ext>
            </a:extLst>
          </p:cNvPr>
          <p:cNvSpPr txBox="1"/>
          <p:nvPr/>
        </p:nvSpPr>
        <p:spPr>
          <a:xfrm>
            <a:off x="457694" y="1882123"/>
            <a:ext cx="2133918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DM_PLN_CFM_SELLING_PRICE</a:t>
            </a:r>
            <a:endParaRPr lang="ko-KR" altLang="en-US" sz="1100" dirty="0"/>
          </a:p>
        </p:txBody>
      </p:sp>
      <p:cxnSp>
        <p:nvCxnSpPr>
          <p:cNvPr id="40" name="꺾인 연결선 61">
            <a:extLst>
              <a:ext uri="{FF2B5EF4-FFF2-40B4-BE49-F238E27FC236}">
                <a16:creationId xmlns:a16="http://schemas.microsoft.com/office/drawing/2014/main" id="{93C5C256-2F3B-EA80-B958-EAE2EFE6E455}"/>
              </a:ext>
            </a:extLst>
          </p:cNvPr>
          <p:cNvCxnSpPr>
            <a:cxnSpLocks/>
            <a:stCxn id="39" idx="3"/>
            <a:endCxn id="37" idx="1"/>
          </p:cNvCxnSpPr>
          <p:nvPr/>
        </p:nvCxnSpPr>
        <p:spPr>
          <a:xfrm>
            <a:off x="2591612" y="2012928"/>
            <a:ext cx="898269" cy="2453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A7270B9-DBEE-14EF-F00A-7EAA05231E08}"/>
              </a:ext>
            </a:extLst>
          </p:cNvPr>
          <p:cNvSpPr txBox="1"/>
          <p:nvPr/>
        </p:nvSpPr>
        <p:spPr>
          <a:xfrm>
            <a:off x="3537158" y="1546209"/>
            <a:ext cx="2309499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SCM_MST_FUTURE_PRICE_C</a:t>
            </a:r>
            <a:endParaRPr lang="ko-KR" altLang="en-US" sz="11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C7D69-7D05-D57C-E958-48BBC827B68B}"/>
              </a:ext>
            </a:extLst>
          </p:cNvPr>
          <p:cNvSpPr txBox="1"/>
          <p:nvPr/>
        </p:nvSpPr>
        <p:spPr>
          <a:xfrm>
            <a:off x="504972" y="1494862"/>
            <a:ext cx="1850186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SCM_MST_FUTURE_PRICE</a:t>
            </a:r>
            <a:endParaRPr lang="ko-KR" altLang="en-US" sz="1100" dirty="0"/>
          </a:p>
        </p:txBody>
      </p:sp>
      <p:cxnSp>
        <p:nvCxnSpPr>
          <p:cNvPr id="54" name="꺾인 연결선 61">
            <a:extLst>
              <a:ext uri="{FF2B5EF4-FFF2-40B4-BE49-F238E27FC236}">
                <a16:creationId xmlns:a16="http://schemas.microsoft.com/office/drawing/2014/main" id="{C7D75F4C-F7FB-AEA2-74A9-ECF873E0505D}"/>
              </a:ext>
            </a:extLst>
          </p:cNvPr>
          <p:cNvCxnSpPr>
            <a:cxnSpLocks/>
            <a:stCxn id="50" idx="3"/>
            <a:endCxn id="49" idx="1"/>
          </p:cNvCxnSpPr>
          <p:nvPr/>
        </p:nvCxnSpPr>
        <p:spPr>
          <a:xfrm>
            <a:off x="2355158" y="1625667"/>
            <a:ext cx="1182000" cy="5134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구부러진 연결선 69">
            <a:extLst>
              <a:ext uri="{FF2B5EF4-FFF2-40B4-BE49-F238E27FC236}">
                <a16:creationId xmlns:a16="http://schemas.microsoft.com/office/drawing/2014/main" id="{DAFB860C-930C-787A-4759-1A12800FE4B6}"/>
              </a:ext>
            </a:extLst>
          </p:cNvPr>
          <p:cNvCxnSpPr>
            <a:cxnSpLocks/>
            <a:stCxn id="37" idx="3"/>
            <a:endCxn id="85" idx="1"/>
          </p:cNvCxnSpPr>
          <p:nvPr/>
        </p:nvCxnSpPr>
        <p:spPr>
          <a:xfrm>
            <a:off x="5799380" y="2037462"/>
            <a:ext cx="2138928" cy="172339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구부러진 연결선 69">
            <a:extLst>
              <a:ext uri="{FF2B5EF4-FFF2-40B4-BE49-F238E27FC236}">
                <a16:creationId xmlns:a16="http://schemas.microsoft.com/office/drawing/2014/main" id="{6F3406AC-E05F-C928-AB87-C3EDC3D50CE4}"/>
              </a:ext>
            </a:extLst>
          </p:cNvPr>
          <p:cNvCxnSpPr>
            <a:cxnSpLocks/>
            <a:stCxn id="49" idx="3"/>
            <a:endCxn id="85" idx="1"/>
          </p:cNvCxnSpPr>
          <p:nvPr/>
        </p:nvCxnSpPr>
        <p:spPr>
          <a:xfrm>
            <a:off x="5846657" y="1677014"/>
            <a:ext cx="2091651" cy="20838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EF2990A2-DAED-A98C-E5DB-D18783AB5295}"/>
              </a:ext>
            </a:extLst>
          </p:cNvPr>
          <p:cNvSpPr/>
          <p:nvPr/>
        </p:nvSpPr>
        <p:spPr>
          <a:xfrm>
            <a:off x="7825987" y="2391101"/>
            <a:ext cx="4244093" cy="2799015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75BBD34-BE64-B5C9-F108-451A5ABAE625}"/>
              </a:ext>
            </a:extLst>
          </p:cNvPr>
          <p:cNvSpPr txBox="1"/>
          <p:nvPr/>
        </p:nvSpPr>
        <p:spPr>
          <a:xfrm>
            <a:off x="8914318" y="5195220"/>
            <a:ext cx="211788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40 </a:t>
            </a:r>
            <a:r>
              <a:rPr lang="ko-KR" altLang="en-US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사업부만 해당 </a:t>
            </a:r>
            <a:r>
              <a:rPr lang="en-US" altLang="ko-KR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FLOW </a:t>
            </a:r>
            <a:r>
              <a:rPr lang="ko-KR" altLang="en-US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사용</a:t>
            </a:r>
          </a:p>
        </p:txBody>
      </p:sp>
      <p:cxnSp>
        <p:nvCxnSpPr>
          <p:cNvPr id="90" name="구부러진 연결선 69">
            <a:extLst>
              <a:ext uri="{FF2B5EF4-FFF2-40B4-BE49-F238E27FC236}">
                <a16:creationId xmlns:a16="http://schemas.microsoft.com/office/drawing/2014/main" id="{9E35E8F6-6DE8-AF44-2212-DA8E576E25A6}"/>
              </a:ext>
            </a:extLst>
          </p:cNvPr>
          <p:cNvCxnSpPr>
            <a:cxnSpLocks/>
            <a:stCxn id="26" idx="3"/>
            <a:endCxn id="36" idx="1"/>
          </p:cNvCxnSpPr>
          <p:nvPr/>
        </p:nvCxnSpPr>
        <p:spPr>
          <a:xfrm flipV="1">
            <a:off x="6697649" y="373787"/>
            <a:ext cx="547338" cy="324461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B8D7D7CF-A5D4-6B8A-854A-07A18277B4A9}"/>
              </a:ext>
            </a:extLst>
          </p:cNvPr>
          <p:cNvSpPr/>
          <p:nvPr/>
        </p:nvSpPr>
        <p:spPr>
          <a:xfrm>
            <a:off x="7244987" y="666766"/>
            <a:ext cx="2918718" cy="349237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XIF_BPS_SALES_ETC_PLAN_S_SN</a:t>
            </a:r>
            <a:endParaRPr lang="ko-KR" altLang="en-US" sz="14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00" name="구부러진 연결선 69">
            <a:extLst>
              <a:ext uri="{FF2B5EF4-FFF2-40B4-BE49-F238E27FC236}">
                <a16:creationId xmlns:a16="http://schemas.microsoft.com/office/drawing/2014/main" id="{78D04CE9-A730-9195-360A-C36524C31CD5}"/>
              </a:ext>
            </a:extLst>
          </p:cNvPr>
          <p:cNvCxnSpPr>
            <a:cxnSpLocks/>
            <a:stCxn id="49" idx="3"/>
            <a:endCxn id="36" idx="1"/>
          </p:cNvCxnSpPr>
          <p:nvPr/>
        </p:nvCxnSpPr>
        <p:spPr>
          <a:xfrm flipV="1">
            <a:off x="5846657" y="373787"/>
            <a:ext cx="1398330" cy="130322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4" name="구부러진 연결선 69">
            <a:extLst>
              <a:ext uri="{FF2B5EF4-FFF2-40B4-BE49-F238E27FC236}">
                <a16:creationId xmlns:a16="http://schemas.microsoft.com/office/drawing/2014/main" id="{5F02F689-4687-CE8D-E28E-FF8A147B6290}"/>
              </a:ext>
            </a:extLst>
          </p:cNvPr>
          <p:cNvCxnSpPr>
            <a:cxnSpLocks/>
            <a:stCxn id="37" idx="3"/>
            <a:endCxn id="36" idx="1"/>
          </p:cNvCxnSpPr>
          <p:nvPr/>
        </p:nvCxnSpPr>
        <p:spPr>
          <a:xfrm flipV="1">
            <a:off x="5799380" y="373787"/>
            <a:ext cx="1445607" cy="166367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8" name="구부러진 연결선 69">
            <a:extLst>
              <a:ext uri="{FF2B5EF4-FFF2-40B4-BE49-F238E27FC236}">
                <a16:creationId xmlns:a16="http://schemas.microsoft.com/office/drawing/2014/main" id="{613442DE-3E4F-E944-9B00-6AA821FE6778}"/>
              </a:ext>
            </a:extLst>
          </p:cNvPr>
          <p:cNvCxnSpPr>
            <a:cxnSpLocks/>
            <a:stCxn id="5" idx="3"/>
            <a:endCxn id="93" idx="1"/>
          </p:cNvCxnSpPr>
          <p:nvPr/>
        </p:nvCxnSpPr>
        <p:spPr>
          <a:xfrm flipV="1">
            <a:off x="5704480" y="841385"/>
            <a:ext cx="1540507" cy="326002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745EBDD8-CEB4-3ECE-54FB-09E592158C0F}"/>
              </a:ext>
            </a:extLst>
          </p:cNvPr>
          <p:cNvSpPr/>
          <p:nvPr/>
        </p:nvSpPr>
        <p:spPr>
          <a:xfrm>
            <a:off x="7244987" y="1131911"/>
            <a:ext cx="3280138" cy="349237"/>
          </a:xfrm>
          <a:prstGeom prst="rect">
            <a:avLst/>
          </a:prstGeom>
          <a:ln>
            <a:solidFill>
              <a:srgbClr val="FFC000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  <a:latin typeface="+mn-ea"/>
              </a:rPr>
              <a:t>XIF_BPS_METAL_LINK_PRICE_S_SN</a:t>
            </a:r>
            <a:endParaRPr lang="ko-KR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4A3471F4-812B-92DC-FDA3-1641F06E3FD1}"/>
              </a:ext>
            </a:extLst>
          </p:cNvPr>
          <p:cNvSpPr txBox="1"/>
          <p:nvPr/>
        </p:nvSpPr>
        <p:spPr>
          <a:xfrm>
            <a:off x="523852" y="1082057"/>
            <a:ext cx="2039341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DM_BPS_METAL_LINK_PRICE</a:t>
            </a:r>
            <a:endParaRPr lang="ko-KR" altLang="en-US" sz="1100" dirty="0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D4BF5465-0413-D62C-4236-942557EB1025}"/>
              </a:ext>
            </a:extLst>
          </p:cNvPr>
          <p:cNvSpPr txBox="1"/>
          <p:nvPr/>
        </p:nvSpPr>
        <p:spPr>
          <a:xfrm>
            <a:off x="3149792" y="1094026"/>
            <a:ext cx="2194832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solidFill>
                  <a:srgbClr val="000000"/>
                </a:solidFill>
                <a:latin typeface="+mn-ea"/>
              </a:rPr>
              <a:t>DM_BPS_METAL_LINK_PRICE_C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17" name="직선 화살표 연결선 116">
            <a:extLst>
              <a:ext uri="{FF2B5EF4-FFF2-40B4-BE49-F238E27FC236}">
                <a16:creationId xmlns:a16="http://schemas.microsoft.com/office/drawing/2014/main" id="{C64B4A9B-D9FD-FBB4-9A9F-80EB3FD3B0F7}"/>
              </a:ext>
            </a:extLst>
          </p:cNvPr>
          <p:cNvCxnSpPr>
            <a:cxnSpLocks/>
            <a:stCxn id="115" idx="3"/>
            <a:endCxn id="116" idx="1"/>
          </p:cNvCxnSpPr>
          <p:nvPr/>
        </p:nvCxnSpPr>
        <p:spPr>
          <a:xfrm>
            <a:off x="2563193" y="1212862"/>
            <a:ext cx="586599" cy="11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구부러진 연결선 69">
            <a:extLst>
              <a:ext uri="{FF2B5EF4-FFF2-40B4-BE49-F238E27FC236}">
                <a16:creationId xmlns:a16="http://schemas.microsoft.com/office/drawing/2014/main" id="{98FA6B47-ACFD-B12C-1C46-05D0E73A0DCE}"/>
              </a:ext>
            </a:extLst>
          </p:cNvPr>
          <p:cNvCxnSpPr>
            <a:cxnSpLocks/>
            <a:stCxn id="116" idx="3"/>
            <a:endCxn id="113" idx="1"/>
          </p:cNvCxnSpPr>
          <p:nvPr/>
        </p:nvCxnSpPr>
        <p:spPr>
          <a:xfrm>
            <a:off x="5344624" y="1224831"/>
            <a:ext cx="1900363" cy="8169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CFAD3DEC-37A8-9F47-07CD-A7D976779D0B}"/>
              </a:ext>
            </a:extLst>
          </p:cNvPr>
          <p:cNvSpPr/>
          <p:nvPr/>
        </p:nvSpPr>
        <p:spPr>
          <a:xfrm>
            <a:off x="6821394" y="104503"/>
            <a:ext cx="5161227" cy="1521164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C7B86CB-03DB-C96C-B1E6-B1C18EB91368}"/>
              </a:ext>
            </a:extLst>
          </p:cNvPr>
          <p:cNvSpPr txBox="1"/>
          <p:nvPr/>
        </p:nvSpPr>
        <p:spPr>
          <a:xfrm>
            <a:off x="8750890" y="1622306"/>
            <a:ext cx="16353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BPS</a:t>
            </a:r>
            <a:r>
              <a:rPr lang="ko-KR" altLang="en-US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</a:t>
            </a:r>
            <a:r>
              <a:rPr lang="en-US" altLang="ko-KR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I/F</a:t>
            </a:r>
            <a:r>
              <a:rPr lang="ko-KR" altLang="en-US" sz="1200" b="1" dirty="0">
                <a:solidFill>
                  <a:srgbClr val="FF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전사업부 해당 </a:t>
            </a:r>
          </a:p>
        </p:txBody>
      </p:sp>
    </p:spTree>
    <p:extLst>
      <p:ext uri="{BB962C8B-B14F-4D97-AF65-F5344CB8AC3E}">
        <p14:creationId xmlns:p14="http://schemas.microsoft.com/office/powerpoint/2010/main" val="3184702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테이블 구조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1931275" y="1710559"/>
            <a:ext cx="4088517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DM_PLN_MKT_FCST</a:t>
            </a:r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931268" y="2631565"/>
            <a:ext cx="4088516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DM_PLN_SALES_PLAN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1931275" y="5003740"/>
            <a:ext cx="4088514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DM_PLN_MKT_FCST</a:t>
            </a:r>
            <a:r>
              <a:rPr lang="en-US" altLang="ko-KR">
                <a:solidFill>
                  <a:srgbClr val="FFFF00"/>
                </a:solidFill>
              </a:rPr>
              <a:t>_RESULT</a:t>
            </a:r>
            <a:endParaRPr lang="ko-KR" altLang="en-US">
              <a:solidFill>
                <a:srgbClr val="FFFF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931273" y="5768065"/>
            <a:ext cx="4088511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DM_PLN_SALES_PLAN</a:t>
            </a:r>
            <a:r>
              <a:rPr lang="en-US" altLang="ko-KR" dirty="0">
                <a:solidFill>
                  <a:srgbClr val="FFFF00"/>
                </a:solidFill>
              </a:rPr>
              <a:t>_RESULT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6723993" y="1710559"/>
            <a:ext cx="4388133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DM_PLN_MKT_FCST</a:t>
            </a:r>
            <a:r>
              <a:rPr lang="en-US" altLang="ko-KR">
                <a:solidFill>
                  <a:srgbClr val="FF0000"/>
                </a:solidFill>
              </a:rPr>
              <a:t>_C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6718591" y="2618992"/>
            <a:ext cx="4388133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DM_PLN_SALES_PLAN</a:t>
            </a:r>
            <a:r>
              <a:rPr lang="en-US" altLang="ko-KR">
                <a:solidFill>
                  <a:srgbClr val="FF0000"/>
                </a:solidFill>
              </a:rPr>
              <a:t>_C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6723993" y="5003740"/>
            <a:ext cx="4388132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DM_PLN_MKT_FCST</a:t>
            </a:r>
            <a:r>
              <a:rPr lang="en-US" altLang="ko-KR" dirty="0">
                <a:solidFill>
                  <a:srgbClr val="FFFF00"/>
                </a:solidFill>
              </a:rPr>
              <a:t>_RESULT</a:t>
            </a:r>
            <a:r>
              <a:rPr lang="en-US" altLang="ko-KR" dirty="0">
                <a:solidFill>
                  <a:srgbClr val="FF0000"/>
                </a:solidFill>
              </a:rPr>
              <a:t>_C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723991" y="5768065"/>
            <a:ext cx="4388129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DM_PLN_SALES_PLAN</a:t>
            </a:r>
            <a:r>
              <a:rPr lang="en-US" altLang="ko-KR">
                <a:solidFill>
                  <a:srgbClr val="FFFF00"/>
                </a:solidFill>
              </a:rPr>
              <a:t>_RESULT</a:t>
            </a:r>
            <a:r>
              <a:rPr lang="en-US" altLang="ko-KR">
                <a:solidFill>
                  <a:srgbClr val="FF0000"/>
                </a:solidFill>
              </a:rPr>
              <a:t>_C</a:t>
            </a:r>
            <a:endParaRPr lang="ko-KR" altLang="en-US">
              <a:solidFill>
                <a:srgbClr val="FF0000"/>
              </a:solidFill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6172201" y="993228"/>
            <a:ext cx="0" cy="536027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371600" y="4834460"/>
            <a:ext cx="10097814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981334" y="374923"/>
            <a:ext cx="1994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Current </a:t>
            </a:r>
            <a:r>
              <a:rPr lang="ko-KR" altLang="en-US" dirty="0"/>
              <a:t>버전 </a:t>
            </a:r>
            <a:r>
              <a:rPr lang="en-US" altLang="ko-KR" dirty="0"/>
              <a:t>Data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886856" y="374944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Cutoff Data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394141" y="993228"/>
            <a:ext cx="606970" cy="371810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ko-KR" altLang="en-US" dirty="0"/>
              <a:t>계획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42" y="4841967"/>
            <a:ext cx="606970" cy="13858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ctr">
            <a:noAutofit/>
          </a:bodyPr>
          <a:lstStyle/>
          <a:p>
            <a:r>
              <a:rPr lang="ko-KR" altLang="en-US" dirty="0"/>
              <a:t>실적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8409" y="1487770"/>
            <a:ext cx="60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111" y="2765471"/>
            <a:ext cx="60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금액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111" y="5039791"/>
            <a:ext cx="60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수량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111" y="5804116"/>
            <a:ext cx="60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금액</a:t>
            </a:r>
          </a:p>
        </p:txBody>
      </p:sp>
      <p:cxnSp>
        <p:nvCxnSpPr>
          <p:cNvPr id="12" name="직선 연결선 11"/>
          <p:cNvCxnSpPr>
            <a:cxnSpLocks/>
          </p:cNvCxnSpPr>
          <p:nvPr/>
        </p:nvCxnSpPr>
        <p:spPr>
          <a:xfrm flipV="1">
            <a:off x="1095704" y="2377440"/>
            <a:ext cx="10373710" cy="80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cxnSpLocks/>
          </p:cNvCxnSpPr>
          <p:nvPr/>
        </p:nvCxnSpPr>
        <p:spPr>
          <a:xfrm>
            <a:off x="1095704" y="5607465"/>
            <a:ext cx="103737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79DB93-432A-D124-073C-971587B59088}"/>
              </a:ext>
            </a:extLst>
          </p:cNvPr>
          <p:cNvSpPr/>
          <p:nvPr/>
        </p:nvSpPr>
        <p:spPr>
          <a:xfrm>
            <a:off x="1931274" y="1076008"/>
            <a:ext cx="4088523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ko-KR" sz="1800" dirty="0">
                <a:solidFill>
                  <a:schemeClr val="bg1"/>
                </a:solidFill>
                <a:latin typeface="+mn-ea"/>
              </a:rPr>
              <a:t>DM_PLN_CFM_MKT_DEMAND_PLAN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55B12BB-9B24-22AB-0E43-19F47E0EB871}"/>
              </a:ext>
            </a:extLst>
          </p:cNvPr>
          <p:cNvSpPr/>
          <p:nvPr/>
        </p:nvSpPr>
        <p:spPr>
          <a:xfrm>
            <a:off x="6718591" y="1046336"/>
            <a:ext cx="4393543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ko-KR" sz="1800" dirty="0">
                <a:solidFill>
                  <a:schemeClr val="bg1"/>
                </a:solidFill>
                <a:latin typeface="+mn-ea"/>
              </a:rPr>
              <a:t>DM_PLN_CFM_MKT_DEMAND_PLAN</a:t>
            </a:r>
            <a:r>
              <a:rPr lang="de-DE" altLang="ko-KR" sz="1800" dirty="0">
                <a:solidFill>
                  <a:srgbClr val="FF0000"/>
                </a:solidFill>
                <a:latin typeface="+mn-ea"/>
              </a:rPr>
              <a:t>_C</a:t>
            </a:r>
            <a:endParaRPr lang="ko-KR" altLang="en-US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6951D49-F1D1-EDEE-338E-270147DA354A}"/>
              </a:ext>
            </a:extLst>
          </p:cNvPr>
          <p:cNvCxnSpPr>
            <a:cxnSpLocks/>
          </p:cNvCxnSpPr>
          <p:nvPr/>
        </p:nvCxnSpPr>
        <p:spPr>
          <a:xfrm flipV="1">
            <a:off x="1095704" y="3307422"/>
            <a:ext cx="10373710" cy="806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0661B0F-C9DF-B030-0FD9-4CDD4A75AE28}"/>
              </a:ext>
            </a:extLst>
          </p:cNvPr>
          <p:cNvSpPr txBox="1"/>
          <p:nvPr/>
        </p:nvSpPr>
        <p:spPr>
          <a:xfrm>
            <a:off x="1079037" y="3858506"/>
            <a:ext cx="6069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단가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6799396-464B-21B3-B057-AB3C80D7A4FA}"/>
              </a:ext>
            </a:extLst>
          </p:cNvPr>
          <p:cNvSpPr/>
          <p:nvPr/>
        </p:nvSpPr>
        <p:spPr>
          <a:xfrm>
            <a:off x="1931268" y="3578618"/>
            <a:ext cx="4088516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SCM_MST_FUTURE_PRICE</a:t>
            </a:r>
            <a:endParaRPr lang="ko-KR" altLang="en-US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B84DB0B7-8A24-F011-FAFF-30282A1893D4}"/>
              </a:ext>
            </a:extLst>
          </p:cNvPr>
          <p:cNvSpPr/>
          <p:nvPr/>
        </p:nvSpPr>
        <p:spPr>
          <a:xfrm>
            <a:off x="6718591" y="3566045"/>
            <a:ext cx="4388133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SCM_MST_FUTURE_PRICE</a:t>
            </a:r>
            <a:r>
              <a:rPr lang="en-US" altLang="ko-KR" dirty="0">
                <a:solidFill>
                  <a:srgbClr val="FF0000"/>
                </a:solidFill>
              </a:rPr>
              <a:t>_C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89AFA21-F6D5-9573-B4A0-49B1FEAA0E1A}"/>
              </a:ext>
            </a:extLst>
          </p:cNvPr>
          <p:cNvSpPr/>
          <p:nvPr/>
        </p:nvSpPr>
        <p:spPr>
          <a:xfrm>
            <a:off x="1931268" y="4168078"/>
            <a:ext cx="4088516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DM_PLN_CFM_SELLING_PRICE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B30159F-1E40-4FD6-B207-9EFE4A59A6A6}"/>
              </a:ext>
            </a:extLst>
          </p:cNvPr>
          <p:cNvSpPr/>
          <p:nvPr/>
        </p:nvSpPr>
        <p:spPr>
          <a:xfrm>
            <a:off x="6718591" y="4155505"/>
            <a:ext cx="4388133" cy="4414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DM_PLN_CFM_SELLING_PRICE</a:t>
            </a:r>
            <a:r>
              <a:rPr lang="en-US" altLang="ko-KR" dirty="0">
                <a:solidFill>
                  <a:srgbClr val="FF0000"/>
                </a:solidFill>
              </a:rPr>
              <a:t>_C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8497594-858B-BBAD-2C96-90879ABDE5C7}"/>
              </a:ext>
            </a:extLst>
          </p:cNvPr>
          <p:cNvSpPr/>
          <p:nvPr/>
        </p:nvSpPr>
        <p:spPr>
          <a:xfrm>
            <a:off x="1800640" y="922253"/>
            <a:ext cx="9538146" cy="6995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18DAEC7-A4FB-FE12-B477-B8552EAD34EC}"/>
              </a:ext>
            </a:extLst>
          </p:cNvPr>
          <p:cNvSpPr/>
          <p:nvPr/>
        </p:nvSpPr>
        <p:spPr>
          <a:xfrm>
            <a:off x="1773905" y="4058674"/>
            <a:ext cx="9538146" cy="699586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CEF67C5-59A7-DC2F-FB16-488998D0DF66}"/>
              </a:ext>
            </a:extLst>
          </p:cNvPr>
          <p:cNvSpPr txBox="1"/>
          <p:nvPr/>
        </p:nvSpPr>
        <p:spPr>
          <a:xfrm>
            <a:off x="11351316" y="971752"/>
            <a:ext cx="786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40</a:t>
            </a:r>
          </a:p>
          <a:p>
            <a:r>
              <a:rPr lang="ko-KR" altLang="en-US" sz="1200" dirty="0">
                <a:latin typeface="+mn-ea"/>
              </a:rPr>
              <a:t>사업부용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A23075-1FD5-5188-8D81-9237B380AA81}"/>
              </a:ext>
            </a:extLst>
          </p:cNvPr>
          <p:cNvSpPr txBox="1"/>
          <p:nvPr/>
        </p:nvSpPr>
        <p:spPr>
          <a:xfrm>
            <a:off x="11322538" y="4122711"/>
            <a:ext cx="7869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+mn-ea"/>
              </a:rPr>
              <a:t>40</a:t>
            </a:r>
          </a:p>
          <a:p>
            <a:r>
              <a:rPr lang="ko-KR" altLang="en-US" sz="1200" dirty="0">
                <a:latin typeface="+mn-ea"/>
              </a:rPr>
              <a:t>사업부용</a:t>
            </a:r>
          </a:p>
        </p:txBody>
      </p:sp>
    </p:spTree>
    <p:extLst>
      <p:ext uri="{BB962C8B-B14F-4D97-AF65-F5344CB8AC3E}">
        <p14:creationId xmlns:p14="http://schemas.microsoft.com/office/powerpoint/2010/main" val="155311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메져설명</a:t>
            </a:r>
            <a:r>
              <a:rPr lang="ko-KR" altLang="en-US" dirty="0"/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215907"/>
              </p:ext>
            </p:extLst>
          </p:nvPr>
        </p:nvGraphicFramePr>
        <p:xfrm>
          <a:off x="417743" y="348661"/>
          <a:ext cx="11356514" cy="6309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89">
                  <a:extLst>
                    <a:ext uri="{9D8B030D-6E8A-4147-A177-3AD203B41FA5}">
                      <a16:colId xmlns:a16="http://schemas.microsoft.com/office/drawing/2014/main" val="340322365"/>
                    </a:ext>
                  </a:extLst>
                </a:gridCol>
                <a:gridCol w="743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DB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데이터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메저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화면표기 메져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_FCST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FCST[P+P]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81, 81_JV, 82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Demnad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&gt; Demand Plan &gt; MKT FCST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화면에서 입력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Demnad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&gt; Demand Plan &gt;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FcstPrice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MGMT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화면에서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MKT_FCST_RP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FCST[R+P]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화면에서 만들어주는 데이터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계획구간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와 동일하게 생성함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실적구간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RTF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와 동일하게 생성함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062053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MKT_FCST_RP_CAR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FCST[R+P] CAR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MKT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FCST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값과 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SCM_MST_SITE_ITEM 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CELL_PER_CAR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CELL_PER_MODULE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나눈값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ITEM_CLASS_NAME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 따라 어떤 값으로 나눌지 달라짐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(81, 81_JV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16924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MKT_FCST_RP_CELL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FCST[R+P]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MKT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FCST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값과 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SCM_MST_SITE_ITEM 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CELL_PER_CAR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CELL_PER_MODULE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곱한값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ITEM_CLASS_NAME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 따라 어떤 값으로 곱할지 달라짐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(81, 81_JV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78524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MKT_FCST_ENERGY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FCST[R+P] Energy(MWH)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값과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SCM_MST_ITEM_SN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ENERGE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값을 곱한 데이터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00856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CUST_FCST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Cust. FCST[P+P]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EDI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통신을 통해서 들어오는 데이터로 자동 생성하는 데이터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(81, 81_JV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570924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RTF_SYS_RP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RTF[R+P]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실적 구간의 경우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ERP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전송하는 데이터</a:t>
                      </a:r>
                      <a:endParaRPr lang="en-US" altLang="ko-KR" sz="1400" b="0" baseline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l" latinLnBrk="1"/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계획 구간의 경우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SCP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</a:t>
                      </a:r>
                      <a:r>
                        <a:rPr lang="ko-KR" altLang="en-US" sz="1400" b="0" baseline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전송받은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데이터</a:t>
                      </a:r>
                      <a:endParaRPr lang="en-US" altLang="ko-KR" sz="1400" b="0" baseline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RTF_SCP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RTF[P+P]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SCP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</a:t>
                      </a:r>
                      <a:r>
                        <a:rPr lang="ko-KR" altLang="en-US" sz="1400" b="0" baseline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전송받은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데이터</a:t>
                      </a:r>
                      <a:endParaRPr lang="en-US" altLang="ko-KR" sz="1400" b="0" baseline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332947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화면에서는 보이지 않지만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존재하는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 </a:t>
                      </a:r>
                    </a:p>
                    <a:p>
                      <a:pPr algn="l" latinLnBrk="1"/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해당 데이터는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SCP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사용하고 있음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609117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RTF_SYS_RP_CAR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RTF[R+P] CAR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RTF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값과 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SCM_MST_SITE_ITEM 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CELL_PER_CAR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나눈값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ITEM_CLASS_NAME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 따라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어떤식으로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표기할지 달라짐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(81, 81_JV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+mn-ea"/>
                        <a:ea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RTF_SYS_RP_CELL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RTF[R+P] CELL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RTF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값과 </a:t>
                      </a:r>
                      <a:r>
                        <a:rPr lang="en-US" altLang="ko-KR" sz="1400" b="0" dirty="0">
                          <a:latin typeface="+mn-ea"/>
                          <a:ea typeface="+mn-ea"/>
                        </a:rPr>
                        <a:t>SCM_MST_SITE_ITEM </a:t>
                      </a:r>
                      <a:r>
                        <a:rPr lang="ko-KR" altLang="en-US" sz="1400" b="0" dirty="0">
                          <a:latin typeface="+mn-ea"/>
                          <a:ea typeface="+mn-ea"/>
                        </a:rPr>
                        <a:t>테이블의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CELL_PER_CAR 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또는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CELL_PER_MODULE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로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곱한값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ITEM_CLASS_NAME</a:t>
                      </a:r>
                      <a:r>
                        <a:rPr lang="ko-KR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에 따라 어떤 값으로 곱할지 달라짐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(81, 81_JV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RTF_ENERGY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RTF[R+P] Energy(MWH)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RTF_SYS_RP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값과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SCM_MST_ITEM_SN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ENERGE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값을 곱한 데이터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8151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메져설명</a:t>
            </a:r>
            <a:r>
              <a:rPr lang="ko-KR" altLang="en-US" dirty="0"/>
              <a:t> 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085593"/>
              </p:ext>
            </p:extLst>
          </p:nvPr>
        </p:nvGraphicFramePr>
        <p:xfrm>
          <a:off x="417743" y="348297"/>
          <a:ext cx="11356514" cy="64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0389">
                  <a:extLst>
                    <a:ext uri="{9D8B030D-6E8A-4147-A177-3AD203B41FA5}">
                      <a16:colId xmlns:a16="http://schemas.microsoft.com/office/drawing/2014/main" val="340322365"/>
                    </a:ext>
                  </a:extLst>
                </a:gridCol>
                <a:gridCol w="7437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DB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데이터 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메저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화면표기 메져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BALANCE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Balance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MKT FCST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와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RTF_SYS_RP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간의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DIFF 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VMI_In_Req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VMI-In Request[R+P]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SCP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 만들어달라고 요청하는 수량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(82, 40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81, 81_JV, 82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Demnad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&gt; Demand Plan &gt; MKT FCST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화면에서 입력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Demnad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&gt; Demand Plan &gt;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FcstPrice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MGMT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화면에서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9062053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VMI_In_Plan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VMI-In Plan[R+P]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SCP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만들겠다고 회신한 수량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(82, 40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일반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SITE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RTF_SCP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와 동일한 개념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16924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VMI_Inv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VMI Inv.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해당 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SITE 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VMI 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재고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(82, 40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en-US" altLang="ko-KR" sz="1400" b="0" kern="1200" baseline="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8978524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VMI_DIO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의미는 모름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실제 사용도 거의 안함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DIO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는 보통 </a:t>
                      </a:r>
                      <a:r>
                        <a:rPr lang="ko-KR" altLang="en-US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재고일수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또는 출발해서 목적지까지 도착하는 기간 정도로 해석함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900856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AS_In_Req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AS In Request[R+P]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SCP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 만들어달라고 요청하는 수량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(81, 81_JV, 82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81, 81_JV, 82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Demnad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&gt; Demand Plan &gt; MKT FCST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화면에서 입력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570924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AS_In_Plan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AS In Plan[R+P]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SCP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만들겠다고 회신한 수량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(81, 81_JV, 82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일반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SITE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RTF_SCP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와 동일한 개념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AS_Inv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AS Inv.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해당 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SITE 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의 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AS 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재고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(81, 81_JV, 82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사용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en-US" altLang="ko-KR" sz="1400" b="0" kern="1200" baseline="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3332947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KRW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 Price(KRW)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단가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* 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원화 계산</a:t>
                      </a:r>
                      <a:endParaRPr lang="en-US" altLang="ko-KR" sz="1400" b="0" baseline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6609117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USD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 Price(USD)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단가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*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달러 계산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LOC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 Price(LOC)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입력한 단가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17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SalesAmt_KRW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Sales Amt.(KRW)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계획구간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: RTF_SCP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*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 Price(KRW)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실적구간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ERP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전송해준 금액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( 40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예외적으로 환율로 계산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SalesAmt_USD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Sales Amt.(USD)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계획구간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: RTF_SCP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*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 Price(USD)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실적구간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ERP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전송해준 금액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( 40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예외적으로 환율로 계산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SalesAmt_LOC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Sales Amt.(LOC)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계획구간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: RTF_SCP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*</a:t>
                      </a:r>
                      <a:r>
                        <a:rPr lang="ko-KR" altLang="en-US" sz="1400" b="0" kern="1200" baseline="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Unit Price(LOC)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실적구간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: ERP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전송해준 금액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( 40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사업부만 예외적으로 환율로 계산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60511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10273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Cut off </a:t>
            </a:r>
            <a:r>
              <a:rPr lang="ko-KR" altLang="en-US"/>
              <a:t>일정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AA7516A-D45E-6FC9-5C31-236F8DFFA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31" y="516407"/>
            <a:ext cx="10124164" cy="2087456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EA0FD65A-906C-55CF-25CE-BBB87068FF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631" y="3000129"/>
            <a:ext cx="2503615" cy="186921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B3EFD2B-688E-AE06-A908-B1AAE06CCC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8992" y="3016212"/>
            <a:ext cx="8194768" cy="1832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362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Batch – weekly rolling </a:t>
            </a:r>
            <a:r>
              <a:rPr lang="ko-KR" altLang="en-US" dirty="0"/>
              <a:t>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445" y="536195"/>
            <a:ext cx="6005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운영 배치에 </a:t>
            </a:r>
            <a:r>
              <a:rPr lang="en-US" altLang="ko-KR" sz="1000" b="1" dirty="0"/>
              <a:t>Weekly rolling </a:t>
            </a:r>
            <a:r>
              <a:rPr lang="ko-KR" altLang="en-US" sz="1000" b="1" dirty="0"/>
              <a:t>가 여러 개 걸려있는데</a:t>
            </a:r>
            <a:r>
              <a:rPr lang="en-US" altLang="ko-KR" sz="1000" b="1" dirty="0"/>
              <a:t>, </a:t>
            </a:r>
            <a:r>
              <a:rPr lang="ko-KR" altLang="en-US" sz="1000" b="1" dirty="0"/>
              <a:t>하단 </a:t>
            </a:r>
            <a:r>
              <a:rPr lang="en-US" altLang="ko-KR" sz="1000" b="1" dirty="0"/>
              <a:t>LIST</a:t>
            </a:r>
            <a:r>
              <a:rPr lang="ko-KR" altLang="en-US" sz="1000" b="1" dirty="0"/>
              <a:t>가 </a:t>
            </a:r>
            <a:r>
              <a:rPr lang="en-US" altLang="ko-KR" sz="1000" b="1" dirty="0"/>
              <a:t>MKT FCST CUTOFF / SCM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FCST</a:t>
            </a:r>
            <a:r>
              <a:rPr lang="ko-KR" altLang="en-US" sz="1000" b="1" dirty="0"/>
              <a:t> </a:t>
            </a:r>
            <a:r>
              <a:rPr lang="en-US" altLang="ko-KR" sz="1000" b="1" dirty="0"/>
              <a:t>CUTOFF</a:t>
            </a:r>
            <a:r>
              <a:rPr lang="ko-KR" altLang="en-US" sz="1000" b="1" dirty="0"/>
              <a:t> 목록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7371280"/>
              </p:ext>
            </p:extLst>
          </p:nvPr>
        </p:nvGraphicFramePr>
        <p:xfrm>
          <a:off x="288445" y="1132511"/>
          <a:ext cx="11441680" cy="529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8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9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8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592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664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74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870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JOB NAME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사용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일정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단계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프로시저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파라미터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JOB.PR_DM_PLN_MKT_FCST_WEEKLY_ROLLING_MON_40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월요일 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15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952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JOB.PR_DM_PLN_MKT_FCST_WEEKLY_ROLLING_MON_82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월요일 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16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0044222"/>
                  </a:ext>
                </a:extLst>
              </a:tr>
              <a:tr h="0">
                <a:tc rowSpan="9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u="none" strike="noStrike" kern="1200" dirty="0">
                          <a:solidFill>
                            <a:schemeClr val="dk1"/>
                          </a:solidFill>
                          <a:effectLst/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JOB.PR_DM_PLN_MKT_FCST_WEEKLY_ROLLING_TOTAL_MOBILE</a:t>
                      </a:r>
                      <a:endParaRPr lang="en-US" altLang="ko-KR" sz="900" b="0" i="0" u="none" strike="noStrike" kern="1200" dirty="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목</a:t>
                      </a:r>
                      <a:endParaRPr lang="en-US" altLang="ko-KR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금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토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 </a:t>
                      </a:r>
                      <a:endParaRPr lang="en-US" altLang="ko-KR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오전 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PR_DM_PLN_CFM_TO_MKT_FCST_ALL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CFM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테이블과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MKT FCST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테이블 동기화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6582094"/>
                  </a:ext>
                </a:extLst>
              </a:tr>
              <a:tr h="10626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81_UC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81_HM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81_ST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>
                        <a:solidFill>
                          <a:srgbClr val="000000"/>
                        </a:solidFill>
                        <a:effectLst/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JOB.PR_DM_PLN_MKT_FCST_WEEKLY_ROLLING_TUE_81_2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화요일 </a:t>
                      </a:r>
                      <a:endParaRPr lang="en-US" altLang="ko-KR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오전 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04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81_HM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81_ST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JOB.PR_DM_PLN_MKT_FCST_WEEKLY_ROLLING_TUE_81_HG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화요일 </a:t>
                      </a:r>
                      <a:endParaRPr lang="en-US" altLang="ko-KR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오전 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09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2882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JOB.PR_DM_PLN_MKT_FCST_WEEKLY_ROLLING_TUE_81_UC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화요일 </a:t>
                      </a:r>
                      <a:endParaRPr lang="en-US" altLang="ko-KR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오전 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81_UC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288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JOB.PR_DM_PLN_MKT_FCST_WEEKLY_ROLLING_TUE_SCM_FCST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월요일</a:t>
                      </a:r>
                    </a:p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17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30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8318">
                <a:tc rowSpan="10"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JOB.PR_DM_PLN_MKT_FCST_WEEKLY_ROLLING_TUE_TOTAL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화요일</a:t>
                      </a:r>
                      <a:endParaRPr lang="en-US" altLang="ko-KR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오전</a:t>
                      </a:r>
                      <a:endParaRPr lang="en-US" altLang="ko-KR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 </a:t>
                      </a: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15</a:t>
                      </a:r>
                      <a:r>
                        <a:rPr lang="ko-KR" altLang="en-US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</a:t>
                      </a: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82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MF_W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WEEKLY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PR_DM_PLN_CFM_TO_MKT_FCST_ALL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CFM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테이블과 </a:t>
                      </a: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MKT FCST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테이블 동기화</a:t>
                      </a: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40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2202231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81_UC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454229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81_HM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672709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81_ST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046898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PR_DM_PLN_MKT_FCST_WEEKLY_ROLLING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81_HG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MF_D</a:t>
                      </a:r>
                      <a:endParaRPr lang="ko-KR" altLang="en-US" sz="90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  <a:cs typeface="+mn-cs"/>
                        </a:rPr>
                        <a:t>Daily</a:t>
                      </a:r>
                      <a:endParaRPr lang="ko-KR" altLang="en-US" sz="900" kern="1200" dirty="0">
                        <a:solidFill>
                          <a:schemeClr val="dk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  <a:cs typeface="+mn-cs"/>
                      </a:endParaRPr>
                    </a:p>
                  </a:txBody>
                  <a:tcPr marL="36000" marR="3600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0262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85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모서리가 둥근 직사각형 36"/>
          <p:cNvSpPr/>
          <p:nvPr/>
        </p:nvSpPr>
        <p:spPr>
          <a:xfrm>
            <a:off x="201333" y="671745"/>
            <a:ext cx="2995676" cy="42858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</a:rPr>
              <a:t>PR_DM_PLN_MKT_FCST_WEEKLY_ROLLING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8" name="제목 1"/>
          <p:cNvSpPr txBox="1">
            <a:spLocks/>
          </p:cNvSpPr>
          <p:nvPr/>
        </p:nvSpPr>
        <p:spPr>
          <a:xfrm>
            <a:off x="9525" y="17463"/>
            <a:ext cx="10515600" cy="409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>
                <a:solidFill>
                  <a:srgbClr val="000000"/>
                </a:solidFill>
                <a:latin typeface="Arial"/>
              </a:rPr>
              <a:t>배치 </a:t>
            </a:r>
            <a:r>
              <a:rPr lang="en-US" altLang="ko-KR">
                <a:solidFill>
                  <a:srgbClr val="000000"/>
                </a:solidFill>
                <a:latin typeface="Arial"/>
              </a:rPr>
              <a:t>- Weekly Rolling</a:t>
            </a:r>
            <a:endParaRPr lang="ko-KR" altLang="en-US" dirty="0"/>
          </a:p>
        </p:txBody>
      </p:sp>
      <p:sp>
        <p:nvSpPr>
          <p:cNvPr id="43" name="직사각형 42"/>
          <p:cNvSpPr/>
          <p:nvPr/>
        </p:nvSpPr>
        <p:spPr>
          <a:xfrm>
            <a:off x="1256386" y="3299055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7475156" y="3299054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DM_PLN_MKT_FCST_C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47" name="직선 화살표 연결선 46"/>
          <p:cNvCxnSpPr>
            <a:stCxn id="43" idx="3"/>
            <a:endCxn id="45" idx="1"/>
          </p:cNvCxnSpPr>
          <p:nvPr/>
        </p:nvCxnSpPr>
        <p:spPr>
          <a:xfrm flipV="1">
            <a:off x="3518323" y="3399318"/>
            <a:ext cx="39568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4522349" y="3202122"/>
            <a:ext cx="17283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YYYYMMDD &gt;= </a:t>
            </a:r>
            <a:r>
              <a:rPr lang="ko-KR" altLang="en-US" sz="1000" dirty="0"/>
              <a:t>당주 월요일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1255680" y="4374237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DM_PLN_MKT_FCST_RESULT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7474450" y="4374236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DM_PLN_MKT_FCST_RESULT_C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3" name="직선 화살표 연결선 52"/>
          <p:cNvCxnSpPr>
            <a:stCxn id="50" idx="3"/>
            <a:endCxn id="52" idx="1"/>
          </p:cNvCxnSpPr>
          <p:nvPr/>
        </p:nvCxnSpPr>
        <p:spPr>
          <a:xfrm flipV="1">
            <a:off x="3517617" y="4474500"/>
            <a:ext cx="39568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4208858" y="4252563"/>
            <a:ext cx="27590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당주 월요일 기준 </a:t>
            </a:r>
            <a:r>
              <a:rPr lang="en-US" altLang="ko-KR" sz="1000" dirty="0"/>
              <a:t>54</a:t>
            </a:r>
            <a:r>
              <a:rPr lang="ko-KR" altLang="en-US" sz="1000" dirty="0"/>
              <a:t>주 전 데이터 </a:t>
            </a:r>
            <a:r>
              <a:rPr lang="en-US" altLang="ko-KR" sz="1000" dirty="0"/>
              <a:t>~ </a:t>
            </a:r>
            <a:r>
              <a:rPr lang="ko-KR" altLang="en-US" sz="1000" dirty="0" err="1"/>
              <a:t>당주월요일</a:t>
            </a:r>
            <a:r>
              <a:rPr lang="ko-KR" altLang="en-US" sz="1000" dirty="0"/>
              <a:t> </a:t>
            </a:r>
            <a:r>
              <a:rPr lang="en-US" altLang="ko-KR" sz="1000" dirty="0"/>
              <a:t>-1</a:t>
            </a:r>
            <a:endParaRPr lang="ko-KR" altLang="en-US" sz="1000" dirty="0"/>
          </a:p>
        </p:txBody>
      </p:sp>
      <p:cxnSp>
        <p:nvCxnSpPr>
          <p:cNvPr id="76" name="직선 연결선 75"/>
          <p:cNvCxnSpPr>
            <a:cxnSpLocks/>
          </p:cNvCxnSpPr>
          <p:nvPr/>
        </p:nvCxnSpPr>
        <p:spPr>
          <a:xfrm flipH="1">
            <a:off x="475666" y="1100329"/>
            <a:ext cx="17207" cy="5448517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502004" y="3399317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/>
          <p:cNvCxnSpPr/>
          <p:nvPr/>
        </p:nvCxnSpPr>
        <p:spPr>
          <a:xfrm>
            <a:off x="492873" y="4474498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3292265" y="543840"/>
            <a:ext cx="3950120" cy="553998"/>
          </a:xfrm>
          <a:prstGeom prst="rect">
            <a:avLst/>
          </a:prstGeom>
          <a:ln w="38100">
            <a:solidFill>
              <a:schemeClr val="accent4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000" dirty="0">
                <a:latin typeface="+mn-ea"/>
              </a:rPr>
              <a:t>컷오프 종류</a:t>
            </a:r>
            <a:r>
              <a:rPr lang="en-US" altLang="ko-KR" sz="1000" dirty="0">
                <a:latin typeface="+mn-ea"/>
              </a:rPr>
              <a:t>: MF_W (MKT FCST WEEKLY CUTOFF)</a:t>
            </a:r>
          </a:p>
          <a:p>
            <a:r>
              <a:rPr lang="en-US" altLang="ko-KR" sz="1000" dirty="0">
                <a:latin typeface="+mn-ea"/>
              </a:rPr>
              <a:t>                   SF_W (SCM FCST WEEKLY CUTOFF [40</a:t>
            </a:r>
            <a:r>
              <a:rPr lang="ko-KR" altLang="en-US" sz="1000" dirty="0">
                <a:latin typeface="+mn-ea"/>
              </a:rPr>
              <a:t>사업부만 존재</a:t>
            </a:r>
            <a:r>
              <a:rPr lang="en-US" altLang="ko-KR" sz="1000" dirty="0">
                <a:latin typeface="+mn-ea"/>
              </a:rPr>
              <a:t>])</a:t>
            </a:r>
          </a:p>
          <a:p>
            <a:r>
              <a:rPr lang="en-US" altLang="ko-KR" sz="1000" dirty="0">
                <a:latin typeface="+mn-ea"/>
              </a:rPr>
              <a:t>                   MF_D (MKT FCST DAILY CUT0FF)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780C2F3-AC9A-CF74-A187-39FF90177D7F}"/>
              </a:ext>
            </a:extLst>
          </p:cNvPr>
          <p:cNvSpPr/>
          <p:nvPr/>
        </p:nvSpPr>
        <p:spPr>
          <a:xfrm>
            <a:off x="1255680" y="3651825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ko-KR" sz="900" dirty="0">
                <a:solidFill>
                  <a:srgbClr val="000000"/>
                </a:solidFill>
                <a:latin typeface="+mn-ea"/>
              </a:rPr>
              <a:t>DM_PLN_CFM_MKT_DEMAND_PLAN</a:t>
            </a:r>
            <a:endParaRPr lang="ko-KR" altLang="en-US" sz="3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A985AA7-C7E3-E3F1-1BF9-9435843B1AB5}"/>
              </a:ext>
            </a:extLst>
          </p:cNvPr>
          <p:cNvSpPr/>
          <p:nvPr/>
        </p:nvSpPr>
        <p:spPr>
          <a:xfrm>
            <a:off x="7474451" y="3660556"/>
            <a:ext cx="258159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ko-KR" sz="1000" dirty="0">
                <a:solidFill>
                  <a:srgbClr val="000000"/>
                </a:solidFill>
                <a:latin typeface="+mn-ea"/>
              </a:rPr>
              <a:t>DM_PLN_CFM_MKT_DEMAND_PLAN</a:t>
            </a:r>
            <a:r>
              <a:rPr lang="en-US" altLang="ko-KR" sz="1000" dirty="0">
                <a:solidFill>
                  <a:schemeClr val="tx1"/>
                </a:solidFill>
              </a:rPr>
              <a:t>_C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98B42457-0A78-5326-CCD4-7DF8A2337559}"/>
              </a:ext>
            </a:extLst>
          </p:cNvPr>
          <p:cNvCxnSpPr>
            <a:cxnSpLocks/>
            <a:stCxn id="2" idx="3"/>
          </p:cNvCxnSpPr>
          <p:nvPr/>
        </p:nvCxnSpPr>
        <p:spPr>
          <a:xfrm flipV="1">
            <a:off x="3517617" y="3751104"/>
            <a:ext cx="3956834" cy="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DB3DB60-5DC3-389A-FC69-B2EB785DF82E}"/>
              </a:ext>
            </a:extLst>
          </p:cNvPr>
          <p:cNvCxnSpPr/>
          <p:nvPr/>
        </p:nvCxnSpPr>
        <p:spPr>
          <a:xfrm>
            <a:off x="492873" y="3734670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CBAE942-410E-DA22-564E-15C77A039E41}"/>
              </a:ext>
            </a:extLst>
          </p:cNvPr>
          <p:cNvSpPr/>
          <p:nvPr/>
        </p:nvSpPr>
        <p:spPr>
          <a:xfrm>
            <a:off x="1169954" y="3604094"/>
            <a:ext cx="8981890" cy="28271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E9E807-3D28-0416-BBE1-69CD0C658439}"/>
              </a:ext>
            </a:extLst>
          </p:cNvPr>
          <p:cNvSpPr txBox="1"/>
          <p:nvPr/>
        </p:nvSpPr>
        <p:spPr>
          <a:xfrm>
            <a:off x="10237570" y="3457671"/>
            <a:ext cx="169309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40 </a:t>
            </a:r>
            <a:r>
              <a:rPr lang="ko-KR" altLang="en-US" sz="1000" dirty="0"/>
              <a:t>사업부전용 테이블이지만</a:t>
            </a:r>
            <a:r>
              <a:rPr lang="en-US" altLang="ko-KR" sz="1000" dirty="0"/>
              <a:t>,</a:t>
            </a:r>
          </a:p>
          <a:p>
            <a:r>
              <a:rPr lang="ko-KR" altLang="en-US" sz="1000" dirty="0"/>
              <a:t>모든 사업부가 다 사용함</a:t>
            </a:r>
            <a:endParaRPr lang="en-US" altLang="ko-KR" sz="1000" dirty="0"/>
          </a:p>
          <a:p>
            <a:r>
              <a:rPr lang="en-US" altLang="ko-KR" sz="1000" dirty="0"/>
              <a:t>Sales Plan Cutoff </a:t>
            </a:r>
            <a:r>
              <a:rPr lang="ko-KR" altLang="en-US" sz="1000" dirty="0"/>
              <a:t>시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DD2FA05-48ED-DAE4-7E7D-9E1FC970EA93}"/>
              </a:ext>
            </a:extLst>
          </p:cNvPr>
          <p:cNvSpPr/>
          <p:nvPr/>
        </p:nvSpPr>
        <p:spPr>
          <a:xfrm>
            <a:off x="1256667" y="1457603"/>
            <a:ext cx="2382554" cy="2136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>
                <a:solidFill>
                  <a:schemeClr val="bg1"/>
                </a:solidFill>
                <a:latin typeface="+mn-ea"/>
              </a:rPr>
              <a:t>PR_DM_PLN_VERSION_CREATE</a:t>
            </a:r>
            <a:endParaRPr lang="ko-KR" altLang="en-US" sz="4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565E3AB2-D1E2-4302-651B-DC3A3433EFC4}"/>
              </a:ext>
            </a:extLst>
          </p:cNvPr>
          <p:cNvCxnSpPr/>
          <p:nvPr/>
        </p:nvCxnSpPr>
        <p:spPr>
          <a:xfrm>
            <a:off x="502284" y="1557865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A0A30FF-4382-7667-B0BA-662370891E21}"/>
              </a:ext>
            </a:extLst>
          </p:cNvPr>
          <p:cNvSpPr/>
          <p:nvPr/>
        </p:nvSpPr>
        <p:spPr>
          <a:xfrm>
            <a:off x="1294654" y="1737278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DM_MST_VERSION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492161F-F27C-F2AB-0F8D-B22ED192A99C}"/>
              </a:ext>
            </a:extLst>
          </p:cNvPr>
          <p:cNvSpPr/>
          <p:nvPr/>
        </p:nvSpPr>
        <p:spPr>
          <a:xfrm>
            <a:off x="543986" y="2207763"/>
            <a:ext cx="3233578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+mn-ea"/>
              </a:rPr>
              <a:t>IF @p_ver_type </a:t>
            </a:r>
            <a:r>
              <a:rPr lang="en-US" altLang="ko-KR" sz="1000" dirty="0">
                <a:solidFill>
                  <a:srgbClr val="808080"/>
                </a:solidFill>
                <a:latin typeface="+mn-ea"/>
              </a:rPr>
              <a:t>= </a:t>
            </a:r>
            <a:r>
              <a:rPr lang="en-US" altLang="ko-KR" sz="1000" dirty="0"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‘MF_W’ </a:t>
            </a:r>
            <a:r>
              <a:rPr lang="en-US" altLang="ko-KR" sz="1000" dirty="0">
                <a:latin typeface="+mn-ea"/>
              </a:rPr>
              <a:t>AND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@v_division_id =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‘40’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2D7BC67-42B3-D76C-0C03-42DC70A4B4B4}"/>
              </a:ext>
            </a:extLst>
          </p:cNvPr>
          <p:cNvSpPr/>
          <p:nvPr/>
        </p:nvSpPr>
        <p:spPr>
          <a:xfrm>
            <a:off x="1267102" y="2502830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33E017B-BF41-942C-30EE-7B4B13EC547A}"/>
              </a:ext>
            </a:extLst>
          </p:cNvPr>
          <p:cNvCxnSpPr/>
          <p:nvPr/>
        </p:nvCxnSpPr>
        <p:spPr>
          <a:xfrm>
            <a:off x="512720" y="2603092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4D9E9A8-334B-D16B-58EE-E7798C0C7843}"/>
              </a:ext>
            </a:extLst>
          </p:cNvPr>
          <p:cNvSpPr txBox="1"/>
          <p:nvPr/>
        </p:nvSpPr>
        <p:spPr>
          <a:xfrm>
            <a:off x="3556591" y="2487503"/>
            <a:ext cx="43989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Measure: SCM FCST </a:t>
            </a:r>
            <a:r>
              <a:rPr lang="ko-KR" altLang="en-US" sz="1000" dirty="0"/>
              <a:t>당주 월요일 이후 데이터 삭제 후 </a:t>
            </a:r>
            <a:r>
              <a:rPr lang="en-US" altLang="ko-KR" sz="1000" dirty="0"/>
              <a:t>MKT</a:t>
            </a:r>
            <a:r>
              <a:rPr lang="ko-KR" altLang="en-US" sz="1000" dirty="0"/>
              <a:t> </a:t>
            </a:r>
            <a:r>
              <a:rPr lang="en-US" altLang="ko-KR" sz="1000" dirty="0"/>
              <a:t>FCST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메져로</a:t>
            </a:r>
            <a:r>
              <a:rPr lang="ko-KR" altLang="en-US" sz="1000" dirty="0"/>
              <a:t> 재생성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D25E6014-D5A7-C559-D0F8-F8ED52BDC6AB}"/>
              </a:ext>
            </a:extLst>
          </p:cNvPr>
          <p:cNvSpPr/>
          <p:nvPr/>
        </p:nvSpPr>
        <p:spPr>
          <a:xfrm>
            <a:off x="1118282" y="2759797"/>
            <a:ext cx="2410758" cy="2117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ko-KR" sz="1000" dirty="0">
                <a:solidFill>
                  <a:srgbClr val="000000"/>
                </a:solidFill>
                <a:latin typeface="+mn-ea"/>
              </a:rPr>
              <a:t>DM_PLN_CFM_MKT_DEMAND_PLAN</a:t>
            </a:r>
            <a:endParaRPr lang="ko-KR" altLang="en-US" sz="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6DD9AEC6-6E8F-CDCC-0114-66F703FF94E1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512720" y="2860059"/>
            <a:ext cx="605562" cy="560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0E95A47-2462-B46C-D21C-EDFD2BD6D236}"/>
              </a:ext>
            </a:extLst>
          </p:cNvPr>
          <p:cNvSpPr txBox="1"/>
          <p:nvPr/>
        </p:nvSpPr>
        <p:spPr>
          <a:xfrm>
            <a:off x="3556591" y="2744470"/>
            <a:ext cx="43989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Measure: SCM FCST </a:t>
            </a:r>
            <a:r>
              <a:rPr lang="ko-KR" altLang="en-US" sz="1000" dirty="0"/>
              <a:t>당주 월요일 이후 데이터 삭제 후 </a:t>
            </a:r>
            <a:r>
              <a:rPr lang="en-US" altLang="ko-KR" sz="1000" dirty="0"/>
              <a:t>MKT</a:t>
            </a:r>
            <a:r>
              <a:rPr lang="ko-KR" altLang="en-US" sz="1000" dirty="0"/>
              <a:t> </a:t>
            </a:r>
            <a:r>
              <a:rPr lang="en-US" altLang="ko-KR" sz="1000" dirty="0"/>
              <a:t>FCST</a:t>
            </a:r>
            <a:r>
              <a:rPr lang="ko-KR" altLang="en-US" sz="1000" dirty="0"/>
              <a:t> </a:t>
            </a:r>
            <a:r>
              <a:rPr lang="ko-KR" altLang="en-US" sz="1000" dirty="0" err="1"/>
              <a:t>메져로</a:t>
            </a:r>
            <a:r>
              <a:rPr lang="ko-KR" altLang="en-US" sz="1000" dirty="0"/>
              <a:t> 재생성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49C80D2-AC6A-39C6-B8B8-F965AD40A776}"/>
              </a:ext>
            </a:extLst>
          </p:cNvPr>
          <p:cNvSpPr/>
          <p:nvPr/>
        </p:nvSpPr>
        <p:spPr>
          <a:xfrm>
            <a:off x="561404" y="2149980"/>
            <a:ext cx="7921891" cy="95187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82B48A4-06F8-8889-F249-09890B0EC3D7}"/>
              </a:ext>
            </a:extLst>
          </p:cNvPr>
          <p:cNvSpPr/>
          <p:nvPr/>
        </p:nvSpPr>
        <p:spPr>
          <a:xfrm>
            <a:off x="1234346" y="5257996"/>
            <a:ext cx="2910934" cy="213689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bg1"/>
                </a:solidFill>
                <a:latin typeface="+mn-ea"/>
              </a:rPr>
              <a:t>PR_SCM_MST_FUTURE_PRICE_CUTOFF</a:t>
            </a:r>
            <a:endParaRPr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672A68A9-2E70-D19F-5929-9C7FB1EACF59}"/>
              </a:ext>
            </a:extLst>
          </p:cNvPr>
          <p:cNvCxnSpPr/>
          <p:nvPr/>
        </p:nvCxnSpPr>
        <p:spPr>
          <a:xfrm>
            <a:off x="479963" y="5358258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F2E9D42A-28C3-5D8B-18A6-4E7CD2D58A04}"/>
              </a:ext>
            </a:extLst>
          </p:cNvPr>
          <p:cNvSpPr txBox="1"/>
          <p:nvPr/>
        </p:nvSpPr>
        <p:spPr>
          <a:xfrm>
            <a:off x="3777564" y="1454404"/>
            <a:ext cx="51764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프로시져</a:t>
            </a:r>
            <a:r>
              <a:rPr lang="ko-KR" altLang="en-US" sz="1000" dirty="0"/>
              <a:t> </a:t>
            </a:r>
            <a:r>
              <a:rPr lang="ko-KR" altLang="en-US" sz="1000" dirty="0" err="1"/>
              <a:t>실행시</a:t>
            </a:r>
            <a:r>
              <a:rPr lang="ko-KR" altLang="en-US" sz="1000" dirty="0"/>
              <a:t> 전달받은 </a:t>
            </a:r>
            <a:r>
              <a:rPr lang="en-US" altLang="ko-KR" sz="1000" dirty="0"/>
              <a:t>Type</a:t>
            </a:r>
            <a:r>
              <a:rPr lang="ko-KR" altLang="en-US" sz="1000" dirty="0"/>
              <a:t>으로 버전을 생성하며</a:t>
            </a:r>
            <a:r>
              <a:rPr lang="en-US" altLang="ko-KR" sz="1000" dirty="0"/>
              <a:t>, </a:t>
            </a:r>
            <a:r>
              <a:rPr lang="ko-KR" altLang="en-US" sz="1000" dirty="0" err="1">
                <a:solidFill>
                  <a:srgbClr val="FF0000"/>
                </a:solidFill>
              </a:rPr>
              <a:t>타입명</a:t>
            </a:r>
            <a:r>
              <a:rPr lang="en-US" altLang="ko-KR" sz="1000" dirty="0">
                <a:solidFill>
                  <a:srgbClr val="FF0000"/>
                </a:solidFill>
              </a:rPr>
              <a:t>+</a:t>
            </a:r>
            <a:r>
              <a:rPr lang="ko-KR" altLang="en-US" sz="1000" dirty="0">
                <a:solidFill>
                  <a:srgbClr val="FF0000"/>
                </a:solidFill>
              </a:rPr>
              <a:t>날짜</a:t>
            </a:r>
            <a:r>
              <a:rPr lang="en-US" altLang="ko-KR" sz="1000" dirty="0">
                <a:solidFill>
                  <a:srgbClr val="FF0000"/>
                </a:solidFill>
              </a:rPr>
              <a:t>+SEQ </a:t>
            </a:r>
            <a:r>
              <a:rPr lang="ko-KR" altLang="en-US" sz="1000" dirty="0"/>
              <a:t>형태로 버전이 생성된다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09BB044-609C-CCB0-630D-522AD9A69197}"/>
              </a:ext>
            </a:extLst>
          </p:cNvPr>
          <p:cNvSpPr/>
          <p:nvPr/>
        </p:nvSpPr>
        <p:spPr>
          <a:xfrm>
            <a:off x="586884" y="5007784"/>
            <a:ext cx="152638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+mn-ea"/>
              </a:rPr>
              <a:t>IF </a:t>
            </a:r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@v_division_id =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‘40’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191A539B-0BB1-89DE-176E-EDCA23319C16}"/>
              </a:ext>
            </a:extLst>
          </p:cNvPr>
          <p:cNvSpPr/>
          <p:nvPr/>
        </p:nvSpPr>
        <p:spPr>
          <a:xfrm>
            <a:off x="586883" y="4938946"/>
            <a:ext cx="10263993" cy="127026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97B80157-0154-E8DA-FF54-7DF0F05CDD6B}"/>
              </a:ext>
            </a:extLst>
          </p:cNvPr>
          <p:cNvSpPr/>
          <p:nvPr/>
        </p:nvSpPr>
        <p:spPr>
          <a:xfrm>
            <a:off x="1260102" y="5600360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SCM_MST_FUTURE_PRICE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5575CCDE-1184-0ECF-7CE3-A28201AA85F5}"/>
              </a:ext>
            </a:extLst>
          </p:cNvPr>
          <p:cNvSpPr/>
          <p:nvPr/>
        </p:nvSpPr>
        <p:spPr>
          <a:xfrm>
            <a:off x="6181302" y="5600359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SCM_MST_FUTURE_PRICE_C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D46A21B-CD8D-80B4-880A-5D6486CAD3EC}"/>
              </a:ext>
            </a:extLst>
          </p:cNvPr>
          <p:cNvCxnSpPr>
            <a:stCxn id="35" idx="3"/>
            <a:endCxn id="36" idx="1"/>
          </p:cNvCxnSpPr>
          <p:nvPr/>
        </p:nvCxnSpPr>
        <p:spPr>
          <a:xfrm flipV="1">
            <a:off x="3522039" y="5700623"/>
            <a:ext cx="26592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BD62F19-9885-8644-DED2-EC3E464B20DC}"/>
              </a:ext>
            </a:extLst>
          </p:cNvPr>
          <p:cNvSpPr txBox="1"/>
          <p:nvPr/>
        </p:nvSpPr>
        <p:spPr>
          <a:xfrm>
            <a:off x="3821107" y="5467599"/>
            <a:ext cx="17283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YYYYMMDD &gt;= </a:t>
            </a:r>
            <a:r>
              <a:rPr lang="ko-KR" altLang="en-US" sz="1000" dirty="0"/>
              <a:t>당주 월요일</a:t>
            </a:r>
          </a:p>
        </p:txBody>
      </p:sp>
      <p:cxnSp>
        <p:nvCxnSpPr>
          <p:cNvPr id="42" name="직선 연결선 41">
            <a:extLst>
              <a:ext uri="{FF2B5EF4-FFF2-40B4-BE49-F238E27FC236}">
                <a16:creationId xmlns:a16="http://schemas.microsoft.com/office/drawing/2014/main" id="{27B979E4-4ABE-8BEE-8418-9897DA1C3096}"/>
              </a:ext>
            </a:extLst>
          </p:cNvPr>
          <p:cNvCxnSpPr/>
          <p:nvPr/>
        </p:nvCxnSpPr>
        <p:spPr>
          <a:xfrm>
            <a:off x="505720" y="5700622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EB1729F8-0827-BB95-ECEC-18C972993CD5}"/>
              </a:ext>
            </a:extLst>
          </p:cNvPr>
          <p:cNvSpPr/>
          <p:nvPr/>
        </p:nvSpPr>
        <p:spPr>
          <a:xfrm>
            <a:off x="1268527" y="5882596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altLang="ko-KR" sz="1000" dirty="0">
                <a:solidFill>
                  <a:srgbClr val="000000"/>
                </a:solidFill>
                <a:latin typeface="+mn-ea"/>
              </a:rPr>
              <a:t>DM_PLN_CFM_SELLING_PRICE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07ACF42E-A52E-704B-3AA0-1A8F5A71770F}"/>
              </a:ext>
            </a:extLst>
          </p:cNvPr>
          <p:cNvSpPr/>
          <p:nvPr/>
        </p:nvSpPr>
        <p:spPr>
          <a:xfrm>
            <a:off x="6189727" y="5882595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altLang="ko-KR" sz="1000" dirty="0">
                <a:solidFill>
                  <a:srgbClr val="000000"/>
                </a:solidFill>
                <a:latin typeface="+mn-ea"/>
              </a:rPr>
              <a:t>DM_PLN_CFM_SELLING_PRICE_C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CD4D73E1-16B8-5D4E-CCAD-4C19B6FA4DC6}"/>
              </a:ext>
            </a:extLst>
          </p:cNvPr>
          <p:cNvCxnSpPr>
            <a:stCxn id="44" idx="3"/>
            <a:endCxn id="46" idx="1"/>
          </p:cNvCxnSpPr>
          <p:nvPr/>
        </p:nvCxnSpPr>
        <p:spPr>
          <a:xfrm flipV="1">
            <a:off x="3530464" y="5982859"/>
            <a:ext cx="265926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681000E4-66C7-F2FB-1B71-F2E4EB24A4F8}"/>
              </a:ext>
            </a:extLst>
          </p:cNvPr>
          <p:cNvCxnSpPr/>
          <p:nvPr/>
        </p:nvCxnSpPr>
        <p:spPr>
          <a:xfrm>
            <a:off x="514145" y="5982858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9EF6ED42-27AA-2B8A-31AC-E154868126FA}"/>
              </a:ext>
            </a:extLst>
          </p:cNvPr>
          <p:cNvSpPr txBox="1"/>
          <p:nvPr/>
        </p:nvSpPr>
        <p:spPr>
          <a:xfrm>
            <a:off x="4160431" y="5221099"/>
            <a:ext cx="292900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MKT FCST  CUTOFF </a:t>
            </a:r>
            <a:r>
              <a:rPr lang="ko-KR" altLang="en-US" sz="1000" dirty="0"/>
              <a:t>된 데이터에 대해서만 생성한다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DB9AB62F-0FE6-9724-9078-913EF4CE8AF3}"/>
              </a:ext>
            </a:extLst>
          </p:cNvPr>
          <p:cNvSpPr/>
          <p:nvPr/>
        </p:nvSpPr>
        <p:spPr>
          <a:xfrm>
            <a:off x="1005088" y="5838249"/>
            <a:ext cx="7630323" cy="304999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0DAE45E-93C8-E808-2928-A51906A2EB7F}"/>
              </a:ext>
            </a:extLst>
          </p:cNvPr>
          <p:cNvSpPr txBox="1"/>
          <p:nvPr/>
        </p:nvSpPr>
        <p:spPr>
          <a:xfrm>
            <a:off x="8715103" y="5861849"/>
            <a:ext cx="132600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40 </a:t>
            </a:r>
            <a:r>
              <a:rPr lang="ko-KR" altLang="en-US" sz="1000" dirty="0"/>
              <a:t>사업부전용 테이블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2F7B511-9C08-394F-3A17-DA56A2679C59}"/>
              </a:ext>
            </a:extLst>
          </p:cNvPr>
          <p:cNvSpPr txBox="1"/>
          <p:nvPr/>
        </p:nvSpPr>
        <p:spPr>
          <a:xfrm>
            <a:off x="7780237" y="6277499"/>
            <a:ext cx="387798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해당 작업을 </a:t>
            </a:r>
            <a:r>
              <a:rPr lang="en-US" altLang="ko-KR" sz="1000" dirty="0"/>
              <a:t>40 </a:t>
            </a:r>
            <a:r>
              <a:rPr lang="ko-KR" altLang="en-US" sz="1000" dirty="0"/>
              <a:t>사업부만 하는 이유는</a:t>
            </a:r>
            <a:r>
              <a:rPr lang="en-US" altLang="ko-KR" sz="1000" dirty="0"/>
              <a:t>, 40 </a:t>
            </a:r>
            <a:r>
              <a:rPr lang="ko-KR" altLang="en-US" sz="1000" dirty="0"/>
              <a:t>사업부는 타 사업부와 다르게 </a:t>
            </a:r>
            <a:endParaRPr lang="en-US" altLang="ko-KR" sz="1000" dirty="0"/>
          </a:p>
          <a:p>
            <a:r>
              <a:rPr lang="en-US" altLang="ko-KR" sz="1000" dirty="0"/>
              <a:t>MKT FCST </a:t>
            </a:r>
            <a:r>
              <a:rPr lang="ko-KR" altLang="en-US" sz="1000" dirty="0"/>
              <a:t>데이터 생성 시 </a:t>
            </a:r>
            <a:r>
              <a:rPr lang="en-US" altLang="ko-KR" sz="1000" dirty="0"/>
              <a:t>MKT FCST AMT</a:t>
            </a:r>
            <a:r>
              <a:rPr lang="ko-KR" altLang="en-US" sz="1000" dirty="0"/>
              <a:t>를 생성한다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하여</a:t>
            </a:r>
            <a:r>
              <a:rPr lang="en-US" altLang="ko-KR" sz="1000" dirty="0"/>
              <a:t>, </a:t>
            </a:r>
            <a:r>
              <a:rPr lang="ko-KR" altLang="en-US" sz="1000" dirty="0"/>
              <a:t>해당 시점의 단가와 </a:t>
            </a:r>
            <a:r>
              <a:rPr lang="ko-KR" altLang="en-US" sz="1000" dirty="0" err="1"/>
              <a:t>환율값을</a:t>
            </a:r>
            <a:r>
              <a:rPr lang="ko-KR" altLang="en-US" sz="1000" dirty="0"/>
              <a:t> 보관한다</a:t>
            </a:r>
            <a:r>
              <a:rPr lang="en-US" altLang="ko-KR" sz="1000" dirty="0"/>
              <a:t>.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90014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1"/>
          <p:cNvSpPr txBox="1">
            <a:spLocks/>
          </p:cNvSpPr>
          <p:nvPr/>
        </p:nvSpPr>
        <p:spPr>
          <a:xfrm>
            <a:off x="9525" y="17463"/>
            <a:ext cx="10515600" cy="4095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ko-KR">
                <a:solidFill>
                  <a:srgbClr val="000000"/>
                </a:solidFill>
                <a:latin typeface="Arial"/>
              </a:rPr>
              <a:t>배치 </a:t>
            </a:r>
            <a:r>
              <a:rPr lang="en-US" altLang="ko-KR">
                <a:solidFill>
                  <a:srgbClr val="000000"/>
                </a:solidFill>
                <a:latin typeface="Arial"/>
              </a:rPr>
              <a:t>- Weekly Rolling</a:t>
            </a:r>
            <a:endParaRPr lang="ko-KR" altLang="en-US" dirty="0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164493" y="6153765"/>
            <a:ext cx="2261130" cy="34197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프로시저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164493" y="6572474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schemeClr val="tx1"/>
                </a:solidFill>
              </a:rPr>
              <a:t>테이블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4" name="모서리가 둥근 직사각형 63"/>
          <p:cNvSpPr/>
          <p:nvPr/>
        </p:nvSpPr>
        <p:spPr>
          <a:xfrm>
            <a:off x="1772140" y="1910079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PR_DM_PLN_MKT_FCST_LASTEST_MEASURE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1772139" y="2161298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PR_DM_PLN_MKT_FCST_TO_NET_DEMAND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1" name="모서리가 둥근 직사각형 70"/>
          <p:cNvSpPr/>
          <p:nvPr/>
        </p:nvSpPr>
        <p:spPr>
          <a:xfrm>
            <a:off x="1772138" y="2409671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PR_DM_PLN_DEMANDID_PEGGING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모서리가 둥근 직사각형 74"/>
          <p:cNvSpPr/>
          <p:nvPr/>
        </p:nvSpPr>
        <p:spPr>
          <a:xfrm>
            <a:off x="1188039" y="3982357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PR_DM_PLN_MKT_FCST_QTY_BALANCE_CREATE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76" name="직선 연결선 75"/>
          <p:cNvCxnSpPr>
            <a:cxnSpLocks/>
          </p:cNvCxnSpPr>
          <p:nvPr/>
        </p:nvCxnSpPr>
        <p:spPr>
          <a:xfrm>
            <a:off x="425978" y="1100329"/>
            <a:ext cx="0" cy="474018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왼쪽 대괄호 76"/>
          <p:cNvSpPr/>
          <p:nvPr/>
        </p:nvSpPr>
        <p:spPr>
          <a:xfrm>
            <a:off x="1188039" y="1992717"/>
            <a:ext cx="441280" cy="1566378"/>
          </a:xfrm>
          <a:prstGeom prst="lef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0" name="왼쪽 대괄호 79"/>
          <p:cNvSpPr/>
          <p:nvPr/>
        </p:nvSpPr>
        <p:spPr>
          <a:xfrm>
            <a:off x="879826" y="1449108"/>
            <a:ext cx="441280" cy="2896469"/>
          </a:xfrm>
          <a:prstGeom prst="leftBracket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1" name="직선 연결선 80"/>
          <p:cNvCxnSpPr>
            <a:cxnSpLocks/>
            <a:endCxn id="80" idx="1"/>
          </p:cNvCxnSpPr>
          <p:nvPr/>
        </p:nvCxnSpPr>
        <p:spPr>
          <a:xfrm flipV="1">
            <a:off x="438546" y="2897343"/>
            <a:ext cx="441280" cy="11174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모서리가 둥근 직사각형 82"/>
          <p:cNvSpPr/>
          <p:nvPr/>
        </p:nvSpPr>
        <p:spPr>
          <a:xfrm>
            <a:off x="1482054" y="1379775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dk1"/>
                </a:solidFill>
              </a:rPr>
              <a:t>PR_DM_ANL_SALES_PLAN_AMT_CREATE_LOCAL_KRW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52148" y="1865072"/>
            <a:ext cx="31566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latin typeface="+mn-ea"/>
              </a:rPr>
              <a:t>전주의 </a:t>
            </a:r>
            <a:r>
              <a:rPr lang="en-US" altLang="ko-KR" sz="1000" dirty="0">
                <a:latin typeface="+mn-ea"/>
              </a:rPr>
              <a:t>MKT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FCST</a:t>
            </a:r>
            <a:r>
              <a:rPr lang="ko-KR" altLang="en-US" sz="1000" dirty="0">
                <a:latin typeface="+mn-ea"/>
              </a:rPr>
              <a:t> 데이터를 </a:t>
            </a:r>
            <a:r>
              <a:rPr lang="en-US" altLang="ko-KR" sz="1000" dirty="0">
                <a:latin typeface="+mn-ea"/>
              </a:rPr>
              <a:t>MKT_FCST_LATEST</a:t>
            </a:r>
            <a:r>
              <a:rPr lang="ko-KR" altLang="en-US" sz="1000" dirty="0">
                <a:latin typeface="+mn-ea"/>
              </a:rPr>
              <a:t>로 생성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4204" y="2128187"/>
            <a:ext cx="2755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Net Demand </a:t>
            </a:r>
            <a:r>
              <a:rPr lang="ko-KR" altLang="en-US" sz="1000" dirty="0"/>
              <a:t>생성 </a:t>
            </a:r>
            <a:r>
              <a:rPr lang="en-US" altLang="ko-KR" sz="1000" dirty="0">
                <a:solidFill>
                  <a:srgbClr val="FF0000"/>
                </a:solidFill>
              </a:rPr>
              <a:t>SCP</a:t>
            </a:r>
            <a:r>
              <a:rPr lang="ko-KR" altLang="en-US" sz="1000" dirty="0">
                <a:solidFill>
                  <a:srgbClr val="FF0000"/>
                </a:solidFill>
              </a:rPr>
              <a:t>에서 사용하는 계획데이터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051299" y="1360378"/>
            <a:ext cx="1869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Current </a:t>
            </a:r>
            <a:r>
              <a:rPr lang="ko-KR" altLang="en-US" sz="1000" dirty="0"/>
              <a:t>버전에 </a:t>
            </a:r>
            <a:r>
              <a:rPr lang="en-US" altLang="ko-KR" sz="1000" dirty="0"/>
              <a:t>Sales Plan </a:t>
            </a:r>
            <a:r>
              <a:rPr lang="ko-KR" altLang="en-US" sz="1000" dirty="0"/>
              <a:t>생성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4859965" y="3975084"/>
            <a:ext cx="31181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 </a:t>
            </a:r>
            <a:r>
              <a:rPr lang="en-US" altLang="ko-KR" sz="1000" dirty="0"/>
              <a:t>VMI </a:t>
            </a:r>
            <a:r>
              <a:rPr lang="ko-KR" altLang="en-US" sz="1000" dirty="0" err="1"/>
              <a:t>메저</a:t>
            </a:r>
            <a:r>
              <a:rPr lang="ko-KR" altLang="en-US" sz="1000" dirty="0"/>
              <a:t> 정리 및 </a:t>
            </a:r>
            <a:r>
              <a:rPr lang="en-US" altLang="ko-KR" sz="1000" dirty="0"/>
              <a:t>SCP </a:t>
            </a:r>
            <a:r>
              <a:rPr lang="ko-KR" altLang="en-US" sz="1000" dirty="0" err="1"/>
              <a:t>리턴값을</a:t>
            </a:r>
            <a:r>
              <a:rPr lang="ko-KR" altLang="en-US" sz="1000" dirty="0"/>
              <a:t> </a:t>
            </a:r>
            <a:r>
              <a:rPr lang="en-US" altLang="ko-KR" sz="1000" dirty="0"/>
              <a:t>CURRENT </a:t>
            </a:r>
            <a:r>
              <a:rPr lang="ko-KR" altLang="en-US" sz="1000" dirty="0"/>
              <a:t>버전에 적용</a:t>
            </a:r>
          </a:p>
        </p:txBody>
      </p:sp>
      <p:sp>
        <p:nvSpPr>
          <p:cNvPr id="91" name="모서리가 둥근 직사각형 90"/>
          <p:cNvSpPr/>
          <p:nvPr/>
        </p:nvSpPr>
        <p:spPr>
          <a:xfrm>
            <a:off x="1785272" y="2655088"/>
            <a:ext cx="3556111" cy="199258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PR_DM_PLN_DEMANDID_PEGGING_SECTION_SUM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879960" y="3691489"/>
            <a:ext cx="47000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+mn-ea"/>
              </a:rPr>
              <a:t>ELSE</a:t>
            </a:r>
            <a:endParaRPr lang="en-US" altLang="ko-KR" sz="10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6" name="모서리가 둥근 직사각형 36">
            <a:extLst>
              <a:ext uri="{FF2B5EF4-FFF2-40B4-BE49-F238E27FC236}">
                <a16:creationId xmlns:a16="http://schemas.microsoft.com/office/drawing/2014/main" id="{1DFF4B6F-DCEB-B7BC-5BCE-3F0AFD351E32}"/>
              </a:ext>
            </a:extLst>
          </p:cNvPr>
          <p:cNvSpPr/>
          <p:nvPr/>
        </p:nvSpPr>
        <p:spPr>
          <a:xfrm>
            <a:off x="201333" y="671745"/>
            <a:ext cx="2995676" cy="42858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</a:rPr>
              <a:t>PR_DM_PLN_MKT_FCST_WEEKLY_ROLLING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DC7AB7-FB3F-684B-9E26-33D74D73521F}"/>
              </a:ext>
            </a:extLst>
          </p:cNvPr>
          <p:cNvSpPr/>
          <p:nvPr/>
        </p:nvSpPr>
        <p:spPr>
          <a:xfrm>
            <a:off x="540043" y="1114157"/>
            <a:ext cx="171553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+mn-ea"/>
              </a:rPr>
              <a:t>IF @p_ver_type </a:t>
            </a:r>
            <a:r>
              <a:rPr lang="en-US" altLang="ko-KR" sz="1000" dirty="0">
                <a:solidFill>
                  <a:srgbClr val="808080"/>
                </a:solidFill>
                <a:latin typeface="+mn-ea"/>
              </a:rPr>
              <a:t>&lt;&gt;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‘MF_M’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1B2C30B-21B3-5863-84D7-5ABB154CB5DA}"/>
              </a:ext>
            </a:extLst>
          </p:cNvPr>
          <p:cNvSpPr/>
          <p:nvPr/>
        </p:nvSpPr>
        <p:spPr>
          <a:xfrm>
            <a:off x="917186" y="1599013"/>
            <a:ext cx="326082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+mn-ea"/>
              </a:rPr>
              <a:t>IF @p_ver_type </a:t>
            </a:r>
            <a:r>
              <a:rPr lang="en-US" altLang="ko-KR" sz="1000" dirty="0">
                <a:solidFill>
                  <a:srgbClr val="808080"/>
                </a:solidFill>
                <a:latin typeface="+mn-ea"/>
              </a:rPr>
              <a:t>=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‘MF_W’ </a:t>
            </a:r>
            <a:r>
              <a:rPr lang="en-US" altLang="ko-KR" sz="1000" dirty="0">
                <a:latin typeface="+mn-ea"/>
              </a:rPr>
              <a:t>OR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@p_ver_type </a:t>
            </a:r>
            <a:r>
              <a:rPr lang="en-US" altLang="ko-KR" sz="1000" dirty="0">
                <a:solidFill>
                  <a:srgbClr val="808080"/>
                </a:solidFill>
                <a:latin typeface="+mn-ea"/>
              </a:rPr>
              <a:t>=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‘SF_W’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12067D-EF3B-8F22-8EA1-67A29A69B002}"/>
              </a:ext>
            </a:extLst>
          </p:cNvPr>
          <p:cNvSpPr txBox="1"/>
          <p:nvPr/>
        </p:nvSpPr>
        <p:spPr>
          <a:xfrm>
            <a:off x="5452148" y="2504539"/>
            <a:ext cx="40254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사용하는 곳은 </a:t>
            </a:r>
            <a:r>
              <a:rPr lang="ko-KR" altLang="en-US" sz="1000" dirty="0" err="1"/>
              <a:t>모르겠으나</a:t>
            </a:r>
            <a:r>
              <a:rPr lang="en-US" altLang="ko-KR" sz="1000" dirty="0"/>
              <a:t>, </a:t>
            </a:r>
            <a:r>
              <a:rPr lang="ko-KR" altLang="en-US" sz="1000" dirty="0"/>
              <a:t>생성은 계속함 우선 </a:t>
            </a:r>
            <a:r>
              <a:rPr lang="en-US" altLang="ko-KR" sz="1000" dirty="0"/>
              <a:t>SCP</a:t>
            </a:r>
            <a:r>
              <a:rPr lang="ko-KR" altLang="en-US" sz="1000" dirty="0"/>
              <a:t>는 사용하지 </a:t>
            </a:r>
            <a:r>
              <a:rPr lang="ko-KR" altLang="en-US" sz="1000" dirty="0" err="1"/>
              <a:t>않는다고함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cxnSp>
        <p:nvCxnSpPr>
          <p:cNvPr id="17" name="연결선: 꺾임 16">
            <a:extLst>
              <a:ext uri="{FF2B5EF4-FFF2-40B4-BE49-F238E27FC236}">
                <a16:creationId xmlns:a16="http://schemas.microsoft.com/office/drawing/2014/main" id="{017BD1D6-9873-32D6-0620-8634B73723B3}"/>
              </a:ext>
            </a:extLst>
          </p:cNvPr>
          <p:cNvCxnSpPr>
            <a:stCxn id="71" idx="3"/>
            <a:endCxn id="91" idx="3"/>
          </p:cNvCxnSpPr>
          <p:nvPr/>
        </p:nvCxnSpPr>
        <p:spPr>
          <a:xfrm>
            <a:off x="5341383" y="2499671"/>
            <a:ext cx="12700" cy="255046"/>
          </a:xfrm>
          <a:prstGeom prst="bentConnector3">
            <a:avLst>
              <a:gd name="adj1" fmla="val 118285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7A140AE-27A4-92D1-18FE-141113C33BF2}"/>
              </a:ext>
            </a:extLst>
          </p:cNvPr>
          <p:cNvSpPr/>
          <p:nvPr/>
        </p:nvSpPr>
        <p:spPr>
          <a:xfrm>
            <a:off x="1201788" y="2900397"/>
            <a:ext cx="1653017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+mn-ea"/>
              </a:rPr>
              <a:t>IF @p_ver_type </a:t>
            </a:r>
            <a:r>
              <a:rPr lang="en-US" altLang="ko-KR" sz="1000" dirty="0">
                <a:solidFill>
                  <a:srgbClr val="808080"/>
                </a:solidFill>
                <a:latin typeface="+mn-ea"/>
              </a:rPr>
              <a:t>= </a:t>
            </a:r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‘MF_W’</a:t>
            </a:r>
          </a:p>
        </p:txBody>
      </p:sp>
      <p:sp>
        <p:nvSpPr>
          <p:cNvPr id="20" name="모서리가 둥근 직사각형 73">
            <a:extLst>
              <a:ext uri="{FF2B5EF4-FFF2-40B4-BE49-F238E27FC236}">
                <a16:creationId xmlns:a16="http://schemas.microsoft.com/office/drawing/2014/main" id="{AD7BA57E-4ED5-2E02-B427-0516FF2AF90F}"/>
              </a:ext>
            </a:extLst>
          </p:cNvPr>
          <p:cNvSpPr/>
          <p:nvPr/>
        </p:nvSpPr>
        <p:spPr>
          <a:xfrm>
            <a:off x="1699171" y="3196127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PR_DM_PLN_SALES_PLAN_CUTOFF (‘SP_D’)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4D93D2-54FB-9B7C-EFC6-4E6ED351FA5A}"/>
              </a:ext>
            </a:extLst>
          </p:cNvPr>
          <p:cNvSpPr txBox="1"/>
          <p:nvPr/>
        </p:nvSpPr>
        <p:spPr>
          <a:xfrm>
            <a:off x="5452147" y="3148728"/>
            <a:ext cx="5288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MKT FCST CUTOFF</a:t>
            </a:r>
            <a:r>
              <a:rPr lang="ko-KR" altLang="en-US" sz="1000" dirty="0">
                <a:latin typeface="+mn-ea"/>
              </a:rPr>
              <a:t> 실적과 </a:t>
            </a:r>
            <a:r>
              <a:rPr lang="en-US" altLang="ko-KR" sz="1000" dirty="0">
                <a:latin typeface="+mn-ea"/>
              </a:rPr>
              <a:t>SALES PLAN CUTOFF </a:t>
            </a:r>
            <a:r>
              <a:rPr lang="ko-KR" altLang="en-US" sz="1000" dirty="0">
                <a:latin typeface="+mn-ea"/>
              </a:rPr>
              <a:t>실적의 </a:t>
            </a:r>
            <a:r>
              <a:rPr lang="en-US" altLang="ko-KR" sz="1000" dirty="0">
                <a:latin typeface="+mn-ea"/>
              </a:rPr>
              <a:t>DIFF</a:t>
            </a:r>
            <a:r>
              <a:rPr lang="ko-KR" altLang="en-US" sz="1000" dirty="0">
                <a:latin typeface="+mn-ea"/>
              </a:rPr>
              <a:t>를 없애기 위해 </a:t>
            </a:r>
            <a:r>
              <a:rPr lang="en-US" altLang="ko-KR" sz="1000" dirty="0">
                <a:latin typeface="+mn-ea"/>
              </a:rPr>
              <a:t>SP_D</a:t>
            </a:r>
            <a:r>
              <a:rPr lang="ko-KR" altLang="en-US" sz="1000" dirty="0">
                <a:latin typeface="+mn-ea"/>
              </a:rPr>
              <a:t>로 </a:t>
            </a:r>
            <a:r>
              <a:rPr lang="en-US" altLang="ko-KR" sz="1000" dirty="0">
                <a:latin typeface="+mn-ea"/>
              </a:rPr>
              <a:t>CUTOFF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모서리가 둥근 직사각형 73">
            <a:extLst>
              <a:ext uri="{FF2B5EF4-FFF2-40B4-BE49-F238E27FC236}">
                <a16:creationId xmlns:a16="http://schemas.microsoft.com/office/drawing/2014/main" id="{6884C81C-4F6C-CBB7-8BA0-C2CD9C544463}"/>
              </a:ext>
            </a:extLst>
          </p:cNvPr>
          <p:cNvSpPr/>
          <p:nvPr/>
        </p:nvSpPr>
        <p:spPr>
          <a:xfrm>
            <a:off x="1698080" y="3460117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PR_DM_WEEKLY_ROLLING_CUTOFF_MAIL_SEND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B2D902-0728-D336-C0D1-75F547AC23D4}"/>
              </a:ext>
            </a:extLst>
          </p:cNvPr>
          <p:cNvSpPr txBox="1"/>
          <p:nvPr/>
        </p:nvSpPr>
        <p:spPr>
          <a:xfrm>
            <a:off x="5484204" y="3434109"/>
            <a:ext cx="21755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MKT FCST CUTOFF</a:t>
            </a:r>
            <a:r>
              <a:rPr lang="ko-KR" altLang="en-US" sz="1000" dirty="0">
                <a:latin typeface="+mn-ea"/>
              </a:rPr>
              <a:t> 완료 내역 </a:t>
            </a:r>
            <a:r>
              <a:rPr lang="ko-KR" altLang="en-US" sz="1000" dirty="0" err="1">
                <a:latin typeface="+mn-ea"/>
              </a:rPr>
              <a:t>메일링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65668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201332" y="670300"/>
            <a:ext cx="3412725" cy="42858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PR_DM_PLN_SALES_PLAN_C_QTY_BALANCE_CREATE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>
                <a:solidFill>
                  <a:srgbClr val="000000"/>
                </a:solidFill>
                <a:latin typeface="Arial"/>
              </a:rPr>
              <a:t>배치 </a:t>
            </a:r>
            <a:r>
              <a:rPr lang="en-US" altLang="ko-KR" dirty="0">
                <a:solidFill>
                  <a:srgbClr val="000000"/>
                </a:solidFill>
                <a:latin typeface="Arial"/>
              </a:rPr>
              <a:t>- Weekly Rolling</a:t>
            </a:r>
            <a:endParaRPr lang="ko-KR" altLang="en-US" dirty="0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164493" y="6153765"/>
            <a:ext cx="2261130" cy="34197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prstClr val="black"/>
                </a:solidFill>
              </a:rPr>
              <a:t>프로시저</a:t>
            </a:r>
            <a:endParaRPr lang="ko-KR" altLang="en-US" sz="1200" dirty="0">
              <a:solidFill>
                <a:prstClr val="black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64493" y="6572474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solidFill>
                  <a:prstClr val="black"/>
                </a:solidFill>
              </a:rPr>
              <a:t>테이블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49" name="모서리가 둥근 직사각형 48"/>
          <p:cNvSpPr/>
          <p:nvPr/>
        </p:nvSpPr>
        <p:spPr>
          <a:xfrm>
            <a:off x="1219242" y="1709000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</a:rPr>
              <a:t>PR_DM_PLN_VERSION_CREATE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cxnSp>
        <p:nvCxnSpPr>
          <p:cNvPr id="66" name="직선 연결선 65"/>
          <p:cNvCxnSpPr/>
          <p:nvPr/>
        </p:nvCxnSpPr>
        <p:spPr>
          <a:xfrm>
            <a:off x="452104" y="1466612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452094" y="1814924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>
            <a:cxnSpLocks/>
            <a:endCxn id="53" idx="1"/>
          </p:cNvCxnSpPr>
          <p:nvPr/>
        </p:nvCxnSpPr>
        <p:spPr>
          <a:xfrm>
            <a:off x="418872" y="5253869"/>
            <a:ext cx="50818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6712996" y="607154"/>
            <a:ext cx="2044149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Sales Plan Weekly Cutoff </a:t>
            </a:r>
            <a:r>
              <a:rPr lang="ko-KR" altLang="en-US" sz="1000" dirty="0">
                <a:solidFill>
                  <a:prstClr val="black"/>
                </a:solidFill>
                <a:latin typeface="돋움체" panose="020B0609000101010101" pitchFamily="49" charset="-127"/>
                <a:ea typeface="돋움체" panose="020B0609000101010101" pitchFamily="49" charset="-127"/>
              </a:rPr>
              <a:t>전용</a:t>
            </a:r>
            <a:endParaRPr lang="en-US" altLang="ko-KR" sz="10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6" name="모서리가 둥근 직사각형 35"/>
          <p:cNvSpPr/>
          <p:nvPr/>
        </p:nvSpPr>
        <p:spPr>
          <a:xfrm>
            <a:off x="1230550" y="1365809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</a:rPr>
              <a:t>PR_DM_ANL_SALES_PLAN_AMT_CREATE_LOCAL_KRW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862588" y="1679848"/>
            <a:ext cx="196399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</a:rPr>
              <a:t>Sales Plan Weekly </a:t>
            </a:r>
            <a:r>
              <a:rPr lang="ko-KR" altLang="en-US" sz="1000" dirty="0">
                <a:solidFill>
                  <a:prstClr val="black"/>
                </a:solidFill>
              </a:rPr>
              <a:t>버전번호 생성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43573" y="1322868"/>
            <a:ext cx="186942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prstClr val="black"/>
                </a:solidFill>
              </a:rPr>
              <a:t>Current </a:t>
            </a:r>
            <a:r>
              <a:rPr lang="ko-KR" altLang="en-US" sz="1000" dirty="0">
                <a:solidFill>
                  <a:prstClr val="black"/>
                </a:solidFill>
              </a:rPr>
              <a:t>버전에 </a:t>
            </a:r>
            <a:r>
              <a:rPr lang="en-US" altLang="ko-KR" sz="1000" dirty="0">
                <a:solidFill>
                  <a:prstClr val="black"/>
                </a:solidFill>
              </a:rPr>
              <a:t>Sales Plan </a:t>
            </a:r>
            <a:r>
              <a:rPr lang="ko-KR" altLang="en-US" sz="1000" dirty="0">
                <a:solidFill>
                  <a:prstClr val="black"/>
                </a:solidFill>
              </a:rPr>
              <a:t>생성</a:t>
            </a:r>
          </a:p>
        </p:txBody>
      </p:sp>
      <p:sp>
        <p:nvSpPr>
          <p:cNvPr id="45" name="모서리가 둥근 직사각형 44"/>
          <p:cNvSpPr/>
          <p:nvPr/>
        </p:nvSpPr>
        <p:spPr>
          <a:xfrm>
            <a:off x="1214900" y="2075438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</a:rPr>
              <a:t>PR_SCM_MST_FUTURE_PRICE_CUTOFF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48" name="모서리가 둥근 직사각형 47"/>
          <p:cNvSpPr/>
          <p:nvPr/>
        </p:nvSpPr>
        <p:spPr>
          <a:xfrm>
            <a:off x="1204422" y="2454212"/>
            <a:ext cx="3569245" cy="180000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prstClr val="black"/>
                </a:solidFill>
              </a:rPr>
              <a:t>PR_DM_MST_EXCHANGE_RATE_CUTOFF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894476" y="2036926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solidFill>
                  <a:prstClr val="black"/>
                </a:solidFill>
              </a:rPr>
              <a:t>판가 </a:t>
            </a:r>
            <a:r>
              <a:rPr lang="en-US" altLang="ko-KR" sz="1000">
                <a:solidFill>
                  <a:prstClr val="black"/>
                </a:solidFill>
              </a:rPr>
              <a:t>Cut off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900642" y="2398201"/>
            <a:ext cx="8515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prstClr val="black"/>
                </a:solidFill>
              </a:rPr>
              <a:t>환율 </a:t>
            </a:r>
            <a:r>
              <a:rPr lang="en-US" altLang="ko-KR" sz="1000" dirty="0">
                <a:solidFill>
                  <a:prstClr val="black"/>
                </a:solidFill>
              </a:rPr>
              <a:t>Cut off</a:t>
            </a:r>
            <a:endParaRPr lang="ko-KR" altLang="en-US" sz="1000" dirty="0">
              <a:solidFill>
                <a:prstClr val="black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188784" y="3180367"/>
            <a:ext cx="2508037" cy="3299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altLang="ko-KR" sz="1000" dirty="0">
                <a:solidFill>
                  <a:schemeClr val="tx1"/>
                </a:solidFill>
              </a:rPr>
              <a:t>DM_PLN_CFM_MKT_DEMAND_PLAN_C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47" name="직사각형 46"/>
          <p:cNvSpPr/>
          <p:nvPr/>
        </p:nvSpPr>
        <p:spPr>
          <a:xfrm>
            <a:off x="8168776" y="3240639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DM_PLN_SALES_PLAN_C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/>
          <p:cNvCxnSpPr>
            <a:cxnSpLocks/>
            <a:stCxn id="43" idx="3"/>
            <a:endCxn id="47" idx="1"/>
          </p:cNvCxnSpPr>
          <p:nvPr/>
        </p:nvCxnSpPr>
        <p:spPr>
          <a:xfrm flipV="1">
            <a:off x="3696821" y="3340903"/>
            <a:ext cx="4471955" cy="4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4017048" y="2932672"/>
            <a:ext cx="383149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MKT FCST CUTOFF</a:t>
            </a:r>
            <a:r>
              <a:rPr lang="ko-KR" altLang="en-US" sz="1000" dirty="0"/>
              <a:t>의 가장 마지막 버전의 데이터를 가지고와</a:t>
            </a:r>
            <a:endParaRPr lang="en-US" altLang="ko-KR" sz="1000" dirty="0"/>
          </a:p>
          <a:p>
            <a:r>
              <a:rPr lang="ko-KR" altLang="en-US" sz="1000" dirty="0"/>
              <a:t>금액 </a:t>
            </a:r>
            <a:r>
              <a:rPr lang="ko-KR" altLang="en-US" sz="1000" dirty="0" err="1"/>
              <a:t>메저</a:t>
            </a:r>
            <a:r>
              <a:rPr lang="ko-KR" altLang="en-US" sz="1000" dirty="0"/>
              <a:t> 다시 계산함 </a:t>
            </a:r>
            <a:r>
              <a:rPr lang="en-US" altLang="ko-KR" sz="1000" dirty="0"/>
              <a:t>( SALES PLAN </a:t>
            </a:r>
            <a:r>
              <a:rPr lang="ko-KR" altLang="en-US" sz="1000" dirty="0"/>
              <a:t>을 그대로 </a:t>
            </a:r>
            <a:r>
              <a:rPr lang="en-US" altLang="ko-KR" sz="1000" dirty="0"/>
              <a:t>CUTOFF </a:t>
            </a:r>
            <a:r>
              <a:rPr lang="ko-KR" altLang="en-US" sz="1000" dirty="0"/>
              <a:t>하지 않음 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53" name="직사각형 52"/>
          <p:cNvSpPr/>
          <p:nvPr/>
        </p:nvSpPr>
        <p:spPr>
          <a:xfrm>
            <a:off x="927061" y="5143111"/>
            <a:ext cx="2497068" cy="2215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DM_PLN_SALES_PLAN_RESULT_C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8369498" y="5129693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DM_PLN_SALES_PLAN_RESULT_C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7" name="직선 화살표 연결선 56"/>
          <p:cNvCxnSpPr>
            <a:cxnSpLocks/>
            <a:stCxn id="53" idx="3"/>
            <a:endCxn id="56" idx="1"/>
          </p:cNvCxnSpPr>
          <p:nvPr/>
        </p:nvCxnSpPr>
        <p:spPr>
          <a:xfrm flipV="1">
            <a:off x="3424129" y="5229957"/>
            <a:ext cx="4945369" cy="23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3883999" y="4829846"/>
            <a:ext cx="3964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 err="1"/>
              <a:t>월요일밤</a:t>
            </a:r>
            <a:r>
              <a:rPr lang="ko-KR" altLang="en-US" sz="1000" dirty="0"/>
              <a:t> </a:t>
            </a:r>
            <a:r>
              <a:rPr lang="en-US" altLang="ko-KR" sz="1000" dirty="0"/>
              <a:t>12</a:t>
            </a:r>
            <a:r>
              <a:rPr lang="ko-KR" altLang="en-US" sz="1000" dirty="0"/>
              <a:t>시 </a:t>
            </a:r>
            <a:r>
              <a:rPr lang="en-US" altLang="ko-KR" sz="1000" dirty="0"/>
              <a:t>( MF CUTOFF </a:t>
            </a:r>
            <a:r>
              <a:rPr lang="ko-KR" altLang="en-US" sz="1000" dirty="0"/>
              <a:t>시점 </a:t>
            </a:r>
            <a:r>
              <a:rPr lang="en-US" altLang="ko-KR" sz="1000" dirty="0"/>
              <a:t>) </a:t>
            </a:r>
            <a:r>
              <a:rPr lang="ko-KR" altLang="en-US" sz="1000" dirty="0"/>
              <a:t>의 실적을 </a:t>
            </a:r>
            <a:r>
              <a:rPr lang="en-US" altLang="ko-KR" sz="1000" dirty="0"/>
              <a:t>SALES PLAN CUTOFF</a:t>
            </a:r>
            <a:r>
              <a:rPr lang="ko-KR" altLang="en-US" sz="1000" dirty="0"/>
              <a:t>에</a:t>
            </a:r>
            <a:endParaRPr lang="en-US" altLang="ko-KR" sz="1000" dirty="0"/>
          </a:p>
          <a:p>
            <a:r>
              <a:rPr lang="ko-KR" altLang="en-US" sz="1000" dirty="0"/>
              <a:t>담아야 하므로</a:t>
            </a:r>
            <a:r>
              <a:rPr lang="en-US" altLang="ko-KR" sz="1000" dirty="0"/>
              <a:t>, </a:t>
            </a:r>
            <a:r>
              <a:rPr lang="ko-KR" altLang="en-US" sz="1000" dirty="0"/>
              <a:t>월요일 버전의 </a:t>
            </a:r>
            <a:r>
              <a:rPr lang="en-US" altLang="ko-KR" sz="1000" dirty="0"/>
              <a:t>SP_D </a:t>
            </a:r>
            <a:r>
              <a:rPr lang="ko-KR" altLang="en-US" sz="1000" dirty="0"/>
              <a:t>버전의 데이터를 복사함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C98E5661-E8EB-155D-DAA3-4E83DB470A1E}"/>
              </a:ext>
            </a:extLst>
          </p:cNvPr>
          <p:cNvCxnSpPr>
            <a:cxnSpLocks/>
          </p:cNvCxnSpPr>
          <p:nvPr/>
        </p:nvCxnSpPr>
        <p:spPr>
          <a:xfrm>
            <a:off x="425978" y="1100329"/>
            <a:ext cx="0" cy="4740183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3532296-27DB-3A15-C6DE-4E749A945A11}"/>
              </a:ext>
            </a:extLst>
          </p:cNvPr>
          <p:cNvCxnSpPr/>
          <p:nvPr/>
        </p:nvCxnSpPr>
        <p:spPr>
          <a:xfrm>
            <a:off x="452093" y="2139625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075DA2EC-F810-9B90-DC80-94E7F9B25E62}"/>
              </a:ext>
            </a:extLst>
          </p:cNvPr>
          <p:cNvCxnSpPr/>
          <p:nvPr/>
        </p:nvCxnSpPr>
        <p:spPr>
          <a:xfrm>
            <a:off x="425978" y="2544212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D869F238-6A8E-2716-918F-BC03A69A1E03}"/>
              </a:ext>
            </a:extLst>
          </p:cNvPr>
          <p:cNvCxnSpPr/>
          <p:nvPr/>
        </p:nvCxnSpPr>
        <p:spPr>
          <a:xfrm>
            <a:off x="425977" y="3353198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9D552F3-AF0B-2091-E258-35F45E0863CD}"/>
              </a:ext>
            </a:extLst>
          </p:cNvPr>
          <p:cNvSpPr/>
          <p:nvPr/>
        </p:nvSpPr>
        <p:spPr>
          <a:xfrm>
            <a:off x="1204422" y="3673563"/>
            <a:ext cx="2508037" cy="32992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DM_PLN_MKT_FCST_C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5B40960-0BD7-EBF9-CD57-4DB1F8C716BD}"/>
              </a:ext>
            </a:extLst>
          </p:cNvPr>
          <p:cNvCxnSpPr/>
          <p:nvPr/>
        </p:nvCxnSpPr>
        <p:spPr>
          <a:xfrm>
            <a:off x="441615" y="3846394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E2CFA405-E906-59CE-195C-3427552D317A}"/>
              </a:ext>
            </a:extLst>
          </p:cNvPr>
          <p:cNvSpPr/>
          <p:nvPr/>
        </p:nvSpPr>
        <p:spPr>
          <a:xfrm>
            <a:off x="1075611" y="2922588"/>
            <a:ext cx="2764861" cy="68312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571295-DD98-7401-DBAA-0652E68E8108}"/>
              </a:ext>
            </a:extLst>
          </p:cNvPr>
          <p:cNvSpPr txBox="1"/>
          <p:nvPr/>
        </p:nvSpPr>
        <p:spPr>
          <a:xfrm>
            <a:off x="1827415" y="2949803"/>
            <a:ext cx="72167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FF0000"/>
                </a:solidFill>
                <a:latin typeface="+mn-ea"/>
              </a:rPr>
              <a:t>40 </a:t>
            </a:r>
            <a:r>
              <a:rPr lang="ko-KR" altLang="en-US" sz="1000" dirty="0">
                <a:solidFill>
                  <a:srgbClr val="FF0000"/>
                </a:solidFill>
                <a:latin typeface="+mn-ea"/>
              </a:rPr>
              <a:t>사업부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250F1E2-77EF-F17E-B352-4D76C4145818}"/>
              </a:ext>
            </a:extLst>
          </p:cNvPr>
          <p:cNvSpPr/>
          <p:nvPr/>
        </p:nvSpPr>
        <p:spPr>
          <a:xfrm>
            <a:off x="1001486" y="2847703"/>
            <a:ext cx="3015558" cy="1292358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5ED9B6-8967-EC9C-F0F4-194C5E5D8953}"/>
              </a:ext>
            </a:extLst>
          </p:cNvPr>
          <p:cNvSpPr txBox="1"/>
          <p:nvPr/>
        </p:nvSpPr>
        <p:spPr>
          <a:xfrm>
            <a:off x="1001486" y="4173013"/>
            <a:ext cx="39901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latin typeface="+mn-ea"/>
              </a:rPr>
              <a:t>40 </a:t>
            </a:r>
            <a:r>
              <a:rPr lang="ko-KR" altLang="en-US" sz="1000" dirty="0">
                <a:latin typeface="+mn-ea"/>
              </a:rPr>
              <a:t>사업부 외 타사업부</a:t>
            </a:r>
            <a:endParaRPr lang="en-US" altLang="ko-KR" sz="1000" dirty="0">
              <a:latin typeface="+mn-ea"/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DM_PLN_MKT_FCST_C : RTF </a:t>
            </a:r>
            <a:r>
              <a:rPr lang="ko-KR" altLang="en-US" sz="1000" dirty="0">
                <a:solidFill>
                  <a:schemeClr val="tx1"/>
                </a:solidFill>
              </a:rPr>
              <a:t>메져</a:t>
            </a:r>
            <a:r>
              <a:rPr lang="en-US" altLang="ko-KR" sz="1000" dirty="0">
                <a:solidFill>
                  <a:schemeClr val="tx1"/>
                </a:solidFill>
              </a:rPr>
              <a:t>, AMT </a:t>
            </a:r>
            <a:r>
              <a:rPr lang="ko-KR" altLang="en-US" sz="1000" dirty="0">
                <a:solidFill>
                  <a:schemeClr val="tx1"/>
                </a:solidFill>
              </a:rPr>
              <a:t>메져 외 데이터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de-DE" altLang="ko-KR" sz="1000" dirty="0">
                <a:solidFill>
                  <a:schemeClr val="tx1"/>
                </a:solidFill>
              </a:rPr>
              <a:t>DM_PLN_CFM_MKT_DEMAND_PLAN_C : RTF </a:t>
            </a:r>
            <a:r>
              <a:rPr lang="ko-KR" altLang="en-US" sz="1000" dirty="0">
                <a:solidFill>
                  <a:schemeClr val="tx1"/>
                </a:solidFill>
              </a:rPr>
              <a:t>메져</a:t>
            </a:r>
            <a:r>
              <a:rPr lang="en-US" altLang="ko-KR" sz="1000" dirty="0">
                <a:solidFill>
                  <a:schemeClr val="tx1"/>
                </a:solidFill>
              </a:rPr>
              <a:t>, AMT </a:t>
            </a:r>
            <a:r>
              <a:rPr lang="ko-KR" altLang="en-US" sz="1000" dirty="0">
                <a:solidFill>
                  <a:schemeClr val="tx1"/>
                </a:solidFill>
              </a:rPr>
              <a:t>메져 데이터</a:t>
            </a:r>
            <a:endParaRPr lang="en-US" altLang="ko-KR" sz="1000" dirty="0">
              <a:solidFill>
                <a:schemeClr val="tx1"/>
              </a:solidFill>
            </a:endParaRPr>
          </a:p>
          <a:p>
            <a:endParaRPr lang="ko-KR" altLang="en-US" sz="1000" dirty="0">
              <a:latin typeface="+mn-ea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15A52F15-3AAF-B5DF-098B-C17F08CC2615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401678" y="5567123"/>
            <a:ext cx="508189" cy="7021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6630B61-E957-37AB-63B0-D90D78A1DD8D}"/>
              </a:ext>
            </a:extLst>
          </p:cNvPr>
          <p:cNvSpPr/>
          <p:nvPr/>
        </p:nvSpPr>
        <p:spPr>
          <a:xfrm>
            <a:off x="909867" y="5470407"/>
            <a:ext cx="2497068" cy="20747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DM_PLN_SALES_ETC_PLAN_C</a:t>
            </a:r>
            <a:endParaRPr lang="en-US" altLang="ko-KR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E61135-3ED1-96FB-480F-2C762B99557B}"/>
              </a:ext>
            </a:extLst>
          </p:cNvPr>
          <p:cNvSpPr/>
          <p:nvPr/>
        </p:nvSpPr>
        <p:spPr>
          <a:xfrm>
            <a:off x="8369497" y="5473879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rgbClr val="000000"/>
                </a:solidFill>
                <a:latin typeface="+mn-ea"/>
              </a:rPr>
              <a:t>DM_PLN_SALES_ETC_PLAN_C</a:t>
            </a:r>
            <a:endParaRPr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23895991-9044-93DA-D10F-D673F52B5C0A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 flipV="1">
            <a:off x="3406935" y="5574143"/>
            <a:ext cx="496256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453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PR_DM_PLN_MKT_FCST_QTY_BALANCE_CREATE </a:t>
            </a:r>
            <a:r>
              <a:rPr lang="ko-KR" altLang="en-US" dirty="0" err="1"/>
              <a:t>실행시</a:t>
            </a:r>
            <a:r>
              <a:rPr lang="ko-KR" altLang="en-US" dirty="0"/>
              <a:t> 패턴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4972" y="749644"/>
            <a:ext cx="1022315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패턴이 </a:t>
            </a:r>
            <a:r>
              <a:rPr lang="en-US" altLang="ko-KR" dirty="0"/>
              <a:t>4</a:t>
            </a:r>
            <a:r>
              <a:rPr lang="ko-KR" altLang="en-US" dirty="0"/>
              <a:t>개가 있음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lang="en-US" altLang="ko-KR" dirty="0"/>
              <a:t>Description </a:t>
            </a:r>
            <a:r>
              <a:rPr lang="ko-KR" altLang="en-US" dirty="0"/>
              <a:t>이 </a:t>
            </a:r>
            <a:r>
              <a:rPr lang="en-US" altLang="ko-KR" dirty="0"/>
              <a:t>Call </a:t>
            </a:r>
            <a:r>
              <a:rPr lang="ko-KR" altLang="en-US" dirty="0"/>
              <a:t>로 끝나면서 정각에 돌아가는 경우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/>
              <a:t>Description </a:t>
            </a:r>
            <a:r>
              <a:rPr lang="ko-KR" altLang="en-US" dirty="0"/>
              <a:t>이 </a:t>
            </a:r>
            <a:r>
              <a:rPr lang="en-US" altLang="ko-KR" dirty="0"/>
              <a:t>Call </a:t>
            </a:r>
            <a:r>
              <a:rPr lang="ko-KR" altLang="en-US" dirty="0"/>
              <a:t>로 끝나지만 </a:t>
            </a:r>
            <a:r>
              <a:rPr lang="ko-KR" altLang="en-US" dirty="0" err="1"/>
              <a:t>아무때나</a:t>
            </a:r>
            <a:r>
              <a:rPr lang="ko-KR" altLang="en-US" dirty="0"/>
              <a:t> 돌아가는 경우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en-US" altLang="ko-KR" dirty="0">
                <a:highlight>
                  <a:srgbClr val="FFFF00"/>
                </a:highlight>
              </a:rPr>
              <a:t>Description </a:t>
            </a:r>
            <a:r>
              <a:rPr lang="ko-KR" altLang="en-US" dirty="0">
                <a:highlight>
                  <a:srgbClr val="FFFF00"/>
                </a:highlight>
              </a:rPr>
              <a:t>이  숫자로 끝나는데</a:t>
            </a:r>
            <a:r>
              <a:rPr lang="en-US" altLang="ko-KR" dirty="0">
                <a:highlight>
                  <a:srgbClr val="FFFF00"/>
                </a:highlight>
              </a:rPr>
              <a:t>, start </a:t>
            </a:r>
            <a:r>
              <a:rPr lang="ko-KR" altLang="en-US" dirty="0">
                <a:highlight>
                  <a:srgbClr val="FFFF00"/>
                </a:highlight>
              </a:rPr>
              <a:t>와 </a:t>
            </a:r>
            <a:r>
              <a:rPr lang="en-US" altLang="ko-KR" dirty="0">
                <a:highlight>
                  <a:srgbClr val="FFFF00"/>
                </a:highlight>
              </a:rPr>
              <a:t>end </a:t>
            </a:r>
            <a:r>
              <a:rPr lang="ko-KR" altLang="en-US" dirty="0">
                <a:highlight>
                  <a:srgbClr val="FFFF00"/>
                </a:highlight>
              </a:rPr>
              <a:t>에 모두 값이 들어가는 경우</a:t>
            </a:r>
            <a:endParaRPr lang="en-US" altLang="ko-KR" dirty="0">
              <a:highlight>
                <a:srgbClr val="FFFF00"/>
              </a:highlight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/>
              <a:t>Description </a:t>
            </a:r>
            <a:r>
              <a:rPr lang="ko-KR" altLang="en-US" dirty="0"/>
              <a:t>이  숫자로 끝나는데</a:t>
            </a:r>
            <a:r>
              <a:rPr lang="en-US" altLang="ko-KR" dirty="0"/>
              <a:t>, end </a:t>
            </a:r>
            <a:r>
              <a:rPr lang="ko-KR" altLang="en-US" dirty="0"/>
              <a:t>에만 값이 들어가는 경우</a:t>
            </a:r>
            <a:endParaRPr lang="en-US" altLang="ko-KR" dirty="0"/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46333" y="2340576"/>
            <a:ext cx="8113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번 </a:t>
            </a:r>
            <a:r>
              <a:rPr lang="en-US" altLang="ko-KR" dirty="0"/>
              <a:t>: </a:t>
            </a:r>
            <a:r>
              <a:rPr lang="ko-KR" altLang="en-US" dirty="0"/>
              <a:t>배치가 호출함</a:t>
            </a:r>
            <a:r>
              <a:rPr lang="en-US" altLang="ko-KR" dirty="0"/>
              <a:t>- PR_DM_PLN_MKT_FCST_QTY_BALANCE_CREATE_BATCH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608" y="2945534"/>
            <a:ext cx="62103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6333" y="5193236"/>
            <a:ext cx="109772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번 </a:t>
            </a:r>
            <a:r>
              <a:rPr lang="en-US" altLang="ko-KR" dirty="0"/>
              <a:t>: mkt </a:t>
            </a:r>
            <a:r>
              <a:rPr lang="en-US" altLang="ko-KR" dirty="0" err="1"/>
              <a:t>fcst</a:t>
            </a:r>
            <a:r>
              <a:rPr lang="en-US" altLang="ko-KR" dirty="0"/>
              <a:t> save </a:t>
            </a:r>
            <a:r>
              <a:rPr lang="ko-KR" altLang="en-US" dirty="0"/>
              <a:t>프로시저가 호출함 </a:t>
            </a:r>
            <a:r>
              <a:rPr lang="en-US" altLang="ko-KR" dirty="0"/>
              <a:t>- DMF0003_SAVE_MKT_FCST</a:t>
            </a:r>
          </a:p>
          <a:p>
            <a:r>
              <a:rPr lang="en-US" altLang="ko-KR" dirty="0"/>
              <a:t>3</a:t>
            </a:r>
            <a:r>
              <a:rPr lang="ko-KR" altLang="en-US" dirty="0"/>
              <a:t>번 </a:t>
            </a:r>
            <a:r>
              <a:rPr lang="en-US" altLang="ko-KR" dirty="0"/>
              <a:t>: </a:t>
            </a:r>
            <a:r>
              <a:rPr lang="en-US" altLang="ko-KR" dirty="0" err="1">
                <a:highlight>
                  <a:srgbClr val="FFFF00"/>
                </a:highlight>
              </a:rPr>
              <a:t>scp</a:t>
            </a:r>
            <a:r>
              <a:rPr lang="en-US" altLang="ko-KR" dirty="0">
                <a:highlight>
                  <a:srgbClr val="FFFF00"/>
                </a:highlight>
              </a:rPr>
              <a:t> </a:t>
            </a:r>
            <a:r>
              <a:rPr lang="ko-KR" altLang="en-US" dirty="0">
                <a:highlight>
                  <a:srgbClr val="FFFF00"/>
                </a:highlight>
              </a:rPr>
              <a:t>에서 </a:t>
            </a:r>
            <a:r>
              <a:rPr lang="en-US" altLang="ko-KR" dirty="0">
                <a:highlight>
                  <a:srgbClr val="FFFF00"/>
                </a:highlight>
              </a:rPr>
              <a:t>plan </a:t>
            </a:r>
            <a:r>
              <a:rPr lang="ko-KR" altLang="en-US" dirty="0">
                <a:highlight>
                  <a:srgbClr val="FFFF00"/>
                </a:highlight>
              </a:rPr>
              <a:t>끝난 후에 호출함 </a:t>
            </a:r>
            <a:r>
              <a:rPr lang="en-US" altLang="ko-KR" dirty="0"/>
              <a:t>- PR_SCP_PLN_INTERFACE_PLAN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번 </a:t>
            </a:r>
            <a:r>
              <a:rPr lang="en-US" altLang="ko-KR" dirty="0"/>
              <a:t>: Daily Cutoff </a:t>
            </a:r>
            <a:r>
              <a:rPr lang="ko-KR" altLang="en-US" dirty="0"/>
              <a:t>하면서 호출함 </a:t>
            </a:r>
            <a:r>
              <a:rPr lang="en-US" altLang="ko-KR" dirty="0"/>
              <a:t>- PR_DM_PLN_MKT_FCST_WEEKLY_ROLLING ( @</a:t>
            </a:r>
            <a:r>
              <a:rPr lang="en-US" altLang="ko-KR" dirty="0" err="1"/>
              <a:t>plan_id</a:t>
            </a:r>
            <a:r>
              <a:rPr lang="en-US" altLang="ko-KR" dirty="0"/>
              <a:t> = null )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81042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600" kern="1200" dirty="0">
                <a:solidFill>
                  <a:srgbClr val="000000"/>
                </a:solidFill>
                <a:effectLst/>
                <a:latin typeface="Arial"/>
                <a:ea typeface="굴림체"/>
              </a:rPr>
              <a:t>배치 프로시저 </a:t>
            </a:r>
            <a:r>
              <a:rPr lang="en-US" altLang="ko-KR" sz="1600" kern="1200" dirty="0">
                <a:solidFill>
                  <a:srgbClr val="000000"/>
                </a:solidFill>
                <a:effectLst/>
                <a:latin typeface="Arial"/>
                <a:ea typeface="굴림체"/>
              </a:rPr>
              <a:t>- </a:t>
            </a:r>
            <a:r>
              <a:rPr lang="en-US" altLang="ko-KR" dirty="0"/>
              <a:t>PR_DM_PLN_MKT_FCST_QTY_BALANCE_CREATE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214290" y="541868"/>
            <a:ext cx="11775385" cy="19543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100" dirty="0"/>
              <a:t>역할 </a:t>
            </a:r>
            <a:r>
              <a:rPr lang="en-US" altLang="ko-KR" sz="1100" dirty="0"/>
              <a:t>: </a:t>
            </a:r>
            <a:r>
              <a:rPr lang="en-US" altLang="ko-KR" sz="1100" dirty="0">
                <a:solidFill>
                  <a:srgbClr val="FF0000"/>
                </a:solidFill>
              </a:rPr>
              <a:t>SCP </a:t>
            </a:r>
            <a:r>
              <a:rPr lang="ko-KR" altLang="en-US" sz="1100" dirty="0" err="1">
                <a:solidFill>
                  <a:srgbClr val="FF0000"/>
                </a:solidFill>
              </a:rPr>
              <a:t>리턴값을</a:t>
            </a:r>
            <a:r>
              <a:rPr lang="ko-KR" altLang="en-US" sz="1100" dirty="0">
                <a:solidFill>
                  <a:srgbClr val="FF0000"/>
                </a:solidFill>
              </a:rPr>
              <a:t> </a:t>
            </a:r>
            <a:r>
              <a:rPr lang="en-US" altLang="ko-KR" sz="1100" dirty="0">
                <a:solidFill>
                  <a:srgbClr val="FF0000"/>
                </a:solidFill>
              </a:rPr>
              <a:t>CURRENT </a:t>
            </a:r>
            <a:r>
              <a:rPr lang="ko-KR" altLang="en-US" sz="1100" dirty="0">
                <a:solidFill>
                  <a:srgbClr val="FF0000"/>
                </a:solidFill>
              </a:rPr>
              <a:t>버전에 적용</a:t>
            </a:r>
            <a:endParaRPr lang="en-US" altLang="ko-KR" sz="1100" dirty="0">
              <a:solidFill>
                <a:srgbClr val="FF0000"/>
              </a:solidFill>
            </a:endParaRPr>
          </a:p>
          <a:p>
            <a:pPr marL="228600" indent="-228600">
              <a:buAutoNum type="arabicPeriod"/>
            </a:pPr>
            <a:r>
              <a:rPr lang="en-US" altLang="ko-KR" sz="1100" dirty="0"/>
              <a:t>Call </a:t>
            </a:r>
            <a:r>
              <a:rPr lang="ko-KR" altLang="en-US" sz="1100" dirty="0"/>
              <a:t>인 경우</a:t>
            </a:r>
            <a:r>
              <a:rPr lang="en-US" altLang="ko-KR" sz="1100" dirty="0"/>
              <a:t>: Balance </a:t>
            </a:r>
            <a:r>
              <a:rPr lang="ko-KR" altLang="en-US" sz="1100" dirty="0" err="1"/>
              <a:t>메저를</a:t>
            </a:r>
            <a:r>
              <a:rPr lang="ko-KR" altLang="en-US" sz="1100" dirty="0"/>
              <a:t> 만들어서 </a:t>
            </a:r>
            <a:r>
              <a:rPr lang="en-US" altLang="ko-KR" sz="1100" dirty="0"/>
              <a:t>MKT_FCST </a:t>
            </a:r>
            <a:r>
              <a:rPr lang="ko-KR" altLang="en-US" sz="1100" dirty="0"/>
              <a:t>에 넣어준다</a:t>
            </a:r>
            <a:r>
              <a:rPr lang="en-US" altLang="ko-KR" sz="1100" dirty="0"/>
              <a:t>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Call </a:t>
            </a:r>
            <a:r>
              <a:rPr lang="ko-KR" altLang="en-US" sz="1100" dirty="0"/>
              <a:t>이 아닌 경우 </a:t>
            </a:r>
            <a:r>
              <a:rPr lang="en-US" altLang="ko-KR" sz="1100" dirty="0"/>
              <a:t>: </a:t>
            </a:r>
            <a:br>
              <a:rPr lang="en-US" altLang="ko-KR" sz="1100" dirty="0"/>
            </a:br>
            <a:r>
              <a:rPr lang="en-US" altLang="ko-KR" sz="1100" dirty="0"/>
              <a:t>1) SCP_ALLOC </a:t>
            </a:r>
            <a:r>
              <a:rPr lang="ko-KR" altLang="en-US" sz="1100" dirty="0"/>
              <a:t>을 읽어서 </a:t>
            </a:r>
            <a:r>
              <a:rPr lang="en-US" altLang="ko-KR" sz="1100" dirty="0"/>
              <a:t>MKT_FCST</a:t>
            </a:r>
            <a:r>
              <a:rPr lang="ko-KR" altLang="en-US" sz="1100" dirty="0"/>
              <a:t>에 </a:t>
            </a:r>
            <a:r>
              <a:rPr lang="en-US" altLang="ko-KR" sz="1100" dirty="0"/>
              <a:t>INSERT</a:t>
            </a:r>
            <a:br>
              <a:rPr lang="en-US" altLang="ko-KR" sz="1100" dirty="0"/>
            </a:br>
            <a:r>
              <a:rPr lang="en-US" altLang="ko-KR" sz="1100" dirty="0"/>
              <a:t>2) Balance </a:t>
            </a:r>
            <a:r>
              <a:rPr lang="ko-KR" altLang="en-US" sz="1100" dirty="0" err="1"/>
              <a:t>메저</a:t>
            </a:r>
            <a:r>
              <a:rPr lang="ko-KR" altLang="en-US" sz="1100" dirty="0"/>
              <a:t> 생성</a:t>
            </a:r>
            <a:br>
              <a:rPr lang="en-US" altLang="ko-KR" sz="1100" dirty="0"/>
            </a:br>
            <a:r>
              <a:rPr lang="en-US" altLang="ko-KR" sz="1100" dirty="0"/>
              <a:t>3) Current </a:t>
            </a:r>
            <a:r>
              <a:rPr lang="ko-KR" altLang="en-US" sz="1100" dirty="0"/>
              <a:t>버전에 대해 </a:t>
            </a:r>
            <a:r>
              <a:rPr lang="en-US" altLang="ko-KR" sz="1100" dirty="0"/>
              <a:t>Sales Amt </a:t>
            </a:r>
            <a:r>
              <a:rPr lang="ko-KR" altLang="en-US" sz="1100" dirty="0"/>
              <a:t>만드는 프로시저 호출 </a:t>
            </a:r>
            <a:r>
              <a:rPr lang="en-US" altLang="ko-KR" sz="1100" dirty="0"/>
              <a:t>(PR_DM_ANL_SALES_PLAN_AMT_CREATE_LOCAL_KRW )</a:t>
            </a:r>
            <a:br>
              <a:rPr lang="en-US" altLang="ko-KR" sz="1100" dirty="0"/>
            </a:br>
            <a:r>
              <a:rPr lang="en-US" altLang="ko-KR" sz="1100" dirty="0"/>
              <a:t>4) PR_DM_PLN_MKT_FCST_C_QTY_BALANCE_CREATE </a:t>
            </a:r>
            <a:r>
              <a:rPr lang="ko-KR" altLang="en-US" sz="1100" dirty="0"/>
              <a:t>호출 </a:t>
            </a:r>
            <a:r>
              <a:rPr lang="en-US" altLang="ko-KR" sz="1100" dirty="0"/>
              <a:t>( CUTOFF </a:t>
            </a:r>
            <a:r>
              <a:rPr lang="ko-KR" altLang="en-US" sz="1100" dirty="0"/>
              <a:t>등등 </a:t>
            </a:r>
            <a:r>
              <a:rPr lang="en-US" altLang="ko-KR" sz="1100" dirty="0"/>
              <a:t>) – </a:t>
            </a:r>
            <a:r>
              <a:rPr lang="en-US" altLang="ko-KR" sz="1100" dirty="0">
                <a:solidFill>
                  <a:srgbClr val="FF0000"/>
                </a:solidFill>
              </a:rPr>
              <a:t>CUTOFF </a:t>
            </a:r>
            <a:r>
              <a:rPr lang="ko-KR" altLang="en-US" sz="1100" dirty="0">
                <a:solidFill>
                  <a:srgbClr val="FF0000"/>
                </a:solidFill>
              </a:rPr>
              <a:t>버전에 대해서 거의 동일한 역할 수행함</a:t>
            </a:r>
            <a:r>
              <a:rPr lang="en-US" altLang="ko-KR" sz="1100" dirty="0">
                <a:solidFill>
                  <a:srgbClr val="FF0000"/>
                </a:solidFill>
              </a:rPr>
              <a:t>.</a:t>
            </a:r>
          </a:p>
          <a:p>
            <a:pPr marL="228600" indent="-228600">
              <a:buFontTx/>
              <a:buAutoNum type="arabicPeriod"/>
            </a:pPr>
            <a:endParaRPr lang="en-US" altLang="ko-KR" sz="1100" dirty="0"/>
          </a:p>
          <a:p>
            <a:r>
              <a:rPr lang="en-US" altLang="ko-KR" sz="1100" dirty="0"/>
              <a:t>1. </a:t>
            </a:r>
            <a:r>
              <a:rPr lang="en-US" altLang="ko-KR" sz="1100" dirty="0" err="1"/>
              <a:t>plan_id</a:t>
            </a:r>
            <a:r>
              <a:rPr lang="en-US" altLang="ko-KR" sz="1100" dirty="0"/>
              <a:t> </a:t>
            </a:r>
            <a:r>
              <a:rPr lang="ko-KR" altLang="en-US" sz="1100" dirty="0"/>
              <a:t>값이 </a:t>
            </a:r>
            <a:r>
              <a:rPr lang="ko-KR" altLang="en-US" sz="1100" dirty="0" err="1"/>
              <a:t>있는경우는</a:t>
            </a:r>
            <a:r>
              <a:rPr lang="ko-KR" altLang="en-US" sz="1100" dirty="0"/>
              <a:t> </a:t>
            </a:r>
            <a:r>
              <a:rPr lang="en-US" altLang="ko-KR" sz="1100" dirty="0"/>
              <a:t>SCP</a:t>
            </a:r>
            <a:r>
              <a:rPr lang="ko-KR" altLang="en-US" sz="1100" dirty="0"/>
              <a:t>에서 </a:t>
            </a:r>
            <a:r>
              <a:rPr lang="ko-KR" altLang="en-US" sz="1100" dirty="0" err="1"/>
              <a:t>호출받은</a:t>
            </a:r>
            <a:r>
              <a:rPr lang="ko-KR" altLang="en-US" sz="1100" dirty="0"/>
              <a:t> 경우임</a:t>
            </a:r>
          </a:p>
          <a:p>
            <a:r>
              <a:rPr lang="en-US" altLang="ko-KR" sz="1100" dirty="0"/>
              <a:t>2.  NULL  : </a:t>
            </a:r>
            <a:r>
              <a:rPr lang="ko-KR" altLang="en-US" sz="1100" dirty="0"/>
              <a:t>주</a:t>
            </a:r>
            <a:r>
              <a:rPr lang="en-US" altLang="ko-KR" sz="1100" dirty="0"/>
              <a:t>1</a:t>
            </a:r>
            <a:r>
              <a:rPr lang="ko-KR" altLang="en-US" sz="1100" dirty="0"/>
              <a:t>회 </a:t>
            </a:r>
            <a:r>
              <a:rPr lang="en-US" altLang="ko-KR" sz="1100" dirty="0"/>
              <a:t>WEEKLY ROLLING </a:t>
            </a:r>
            <a:r>
              <a:rPr lang="ko-KR" altLang="en-US" sz="1100" dirty="0" err="1"/>
              <a:t>작업시</a:t>
            </a:r>
            <a:r>
              <a:rPr lang="ko-KR" altLang="en-US" sz="1100" dirty="0"/>
              <a:t> </a:t>
            </a:r>
            <a:r>
              <a:rPr lang="ko-KR" altLang="en-US" sz="1100" dirty="0" err="1"/>
              <a:t>호출받은</a:t>
            </a:r>
            <a:r>
              <a:rPr lang="ko-KR" altLang="en-US" sz="1100" dirty="0"/>
              <a:t> 경우임 </a:t>
            </a:r>
            <a:r>
              <a:rPr lang="en-US" altLang="ko-KR" sz="1100" dirty="0"/>
              <a:t>(SP: PR_DM_PLN_MKT_FCST_WEEKLY_ROLLING)</a:t>
            </a:r>
          </a:p>
          <a:p>
            <a:r>
              <a:rPr lang="en-US" altLang="ko-KR" sz="1100" dirty="0"/>
              <a:t>3. 'CALL' : MKT_FCST</a:t>
            </a:r>
            <a:r>
              <a:rPr lang="ko-KR" altLang="en-US" sz="1100" dirty="0"/>
              <a:t>값 </a:t>
            </a:r>
            <a:r>
              <a:rPr lang="ko-KR" altLang="en-US" sz="1100" dirty="0" err="1"/>
              <a:t>저장시</a:t>
            </a:r>
            <a:r>
              <a:rPr lang="ko-KR" altLang="en-US" sz="1100" dirty="0"/>
              <a:t> 특정대상만 전달받으며 호출된 경우임 </a:t>
            </a:r>
            <a:r>
              <a:rPr lang="en-US" altLang="ko-KR" sz="1100" dirty="0"/>
              <a:t>(SP: DMF0003_SAVE_MKT_FCST)</a:t>
            </a:r>
          </a:p>
        </p:txBody>
      </p:sp>
    </p:spTree>
    <p:extLst>
      <p:ext uri="{BB962C8B-B14F-4D97-AF65-F5344CB8AC3E}">
        <p14:creationId xmlns:p14="http://schemas.microsoft.com/office/powerpoint/2010/main" val="1319326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600" kern="1200" dirty="0">
                <a:solidFill>
                  <a:srgbClr val="000000"/>
                </a:solidFill>
                <a:effectLst/>
                <a:latin typeface="Arial"/>
                <a:ea typeface="굴림체"/>
              </a:rPr>
              <a:t>배치 프로시저 </a:t>
            </a:r>
            <a:r>
              <a:rPr lang="en-US" altLang="ko-KR" sz="1600" kern="1200">
                <a:solidFill>
                  <a:srgbClr val="000000"/>
                </a:solidFill>
                <a:effectLst/>
                <a:latin typeface="Arial"/>
                <a:ea typeface="굴림체"/>
              </a:rPr>
              <a:t>- </a:t>
            </a:r>
            <a:r>
              <a:rPr lang="en-US" altLang="ko-KR"/>
              <a:t>PR_DM_PLN_MKT_FCST_QTY_BALANCE_CREATE</a:t>
            </a:r>
            <a:endParaRPr lang="ko-KR" altLang="en-US" dirty="0"/>
          </a:p>
        </p:txBody>
      </p:sp>
      <p:sp>
        <p:nvSpPr>
          <p:cNvPr id="79" name="직사각형 78"/>
          <p:cNvSpPr/>
          <p:nvPr/>
        </p:nvSpPr>
        <p:spPr>
          <a:xfrm>
            <a:off x="214290" y="541868"/>
            <a:ext cx="11775385" cy="32470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100" dirty="0"/>
              <a:t>Call </a:t>
            </a:r>
            <a:r>
              <a:rPr lang="ko-KR" altLang="en-US" sz="1100" dirty="0"/>
              <a:t>이 아닌 경우</a:t>
            </a:r>
            <a:endParaRPr lang="en-US" altLang="ko-KR" sz="1100" dirty="0"/>
          </a:p>
          <a:p>
            <a:endParaRPr lang="en-US" altLang="ko-KR" sz="1100" dirty="0"/>
          </a:p>
          <a:p>
            <a:pPr marL="228600" indent="-228600">
              <a:buAutoNum type="arabicPeriod"/>
            </a:pPr>
            <a:r>
              <a:rPr lang="en-US" altLang="ko-KR" sz="1100" dirty="0"/>
              <a:t>#</a:t>
            </a:r>
            <a:r>
              <a:rPr lang="en-US" altLang="ko-KR" sz="1100" dirty="0" err="1"/>
              <a:t>T_results</a:t>
            </a:r>
            <a:r>
              <a:rPr lang="en-US" altLang="ko-KR" sz="1100" dirty="0"/>
              <a:t> </a:t>
            </a:r>
            <a:r>
              <a:rPr lang="ko-KR" altLang="en-US" sz="1100" dirty="0"/>
              <a:t>에 </a:t>
            </a:r>
            <a:r>
              <a:rPr lang="en-US" altLang="ko-KR" sz="1100" dirty="0" err="1"/>
              <a:t>SCP_Alloc</a:t>
            </a:r>
            <a:r>
              <a:rPr lang="en-US" altLang="ko-KR" sz="1100" dirty="0"/>
              <a:t> </a:t>
            </a:r>
            <a:r>
              <a:rPr lang="ko-KR" altLang="en-US" sz="1100" dirty="0"/>
              <a:t>값과 </a:t>
            </a:r>
            <a:r>
              <a:rPr lang="en-US" altLang="ko-KR" sz="1100" dirty="0"/>
              <a:t>MKT_FCST </a:t>
            </a:r>
            <a:r>
              <a:rPr lang="ko-KR" altLang="en-US" sz="1100" dirty="0"/>
              <a:t>의 </a:t>
            </a:r>
            <a:r>
              <a:rPr lang="en-US" altLang="ko-KR" sz="1100" dirty="0"/>
              <a:t>MKT_FCST, RTF, Balance </a:t>
            </a:r>
            <a:r>
              <a:rPr lang="ko-KR" altLang="en-US" sz="1100" dirty="0" err="1"/>
              <a:t>메저를</a:t>
            </a:r>
            <a:r>
              <a:rPr lang="ko-KR" altLang="en-US" sz="1100" dirty="0"/>
              <a:t> 넣는다 </a:t>
            </a:r>
            <a:r>
              <a:rPr lang="en-US" altLang="ko-KR" sz="1100" dirty="0"/>
              <a:t>( RMA </a:t>
            </a:r>
            <a:r>
              <a:rPr lang="ko-KR" altLang="en-US" sz="1100" dirty="0"/>
              <a:t>제외 </a:t>
            </a:r>
            <a:r>
              <a:rPr lang="en-US" altLang="ko-KR" sz="1100" dirty="0"/>
              <a:t>)</a:t>
            </a:r>
          </a:p>
          <a:p>
            <a:pPr marL="228600" indent="-228600">
              <a:buAutoNum type="arabicPeriod"/>
            </a:pPr>
            <a:r>
              <a:rPr lang="en-US" altLang="ko-KR" sz="1100" dirty="0" err="1"/>
              <a:t>Dm_pln_mkt_fcst</a:t>
            </a:r>
            <a:r>
              <a:rPr lang="en-US" altLang="ko-KR" sz="1100" dirty="0"/>
              <a:t> </a:t>
            </a:r>
            <a:r>
              <a:rPr lang="ko-KR" altLang="en-US" sz="1100" dirty="0"/>
              <a:t>에서 </a:t>
            </a:r>
            <a:r>
              <a:rPr lang="en-US" altLang="ko-KR" sz="1100" dirty="0"/>
              <a:t>RTF_SYS_RP, RTF_SCP, </a:t>
            </a:r>
            <a:r>
              <a:rPr lang="en-US" altLang="ko-KR" sz="1100" dirty="0" err="1"/>
              <a:t>VMI_IN_Plan</a:t>
            </a:r>
            <a:r>
              <a:rPr lang="en-US" altLang="ko-KR" sz="1100" dirty="0"/>
              <a:t> </a:t>
            </a:r>
            <a:r>
              <a:rPr lang="ko-KR" altLang="en-US" sz="1100" dirty="0" err="1"/>
              <a:t>메저</a:t>
            </a:r>
            <a:r>
              <a:rPr lang="ko-KR" altLang="en-US" sz="1100" dirty="0"/>
              <a:t> 삭제 </a:t>
            </a:r>
            <a:r>
              <a:rPr lang="en-US" altLang="ko-KR" sz="1100" dirty="0"/>
              <a:t>( RMA </a:t>
            </a:r>
            <a:r>
              <a:rPr lang="ko-KR" altLang="en-US" sz="1100" dirty="0"/>
              <a:t>제외 </a:t>
            </a:r>
            <a:r>
              <a:rPr lang="en-US" altLang="ko-KR" sz="1100" dirty="0"/>
              <a:t>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 err="1"/>
              <a:t>Dm_pln_mkt_fcst</a:t>
            </a:r>
            <a:r>
              <a:rPr lang="en-US" altLang="ko-KR" sz="1100" dirty="0"/>
              <a:t> </a:t>
            </a:r>
            <a:r>
              <a:rPr lang="ko-KR" altLang="en-US" sz="1100" dirty="0"/>
              <a:t>에서 </a:t>
            </a:r>
            <a:r>
              <a:rPr lang="en-US" altLang="ko-KR" sz="1100" dirty="0"/>
              <a:t>RTF_SYS_RP, RTF_SCP</a:t>
            </a:r>
            <a:r>
              <a:rPr lang="ko-KR" altLang="en-US" sz="1100" dirty="0" err="1"/>
              <a:t>메저</a:t>
            </a:r>
            <a:r>
              <a:rPr lang="ko-KR" altLang="en-US" sz="1100" dirty="0"/>
              <a:t> 삭제 </a:t>
            </a:r>
            <a:r>
              <a:rPr lang="en-US" altLang="ko-KR" sz="1100" dirty="0"/>
              <a:t>( </a:t>
            </a:r>
            <a:r>
              <a:rPr lang="ko-KR" altLang="en-US" sz="1100" dirty="0"/>
              <a:t>소형 </a:t>
            </a:r>
            <a:r>
              <a:rPr lang="en-US" altLang="ko-KR" sz="1100" dirty="0"/>
              <a:t>RMA </a:t>
            </a:r>
            <a:r>
              <a:rPr lang="ko-KR" altLang="en-US" sz="1100" dirty="0"/>
              <a:t>만</a:t>
            </a:r>
            <a:r>
              <a:rPr lang="en-US" altLang="ko-KR" sz="1100" dirty="0"/>
              <a:t>)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#T_MKT_FCST_INSERT </a:t>
            </a:r>
            <a:r>
              <a:rPr lang="ko-KR" altLang="en-US" sz="1100" dirty="0"/>
              <a:t>에 다음 내용을 넣는다</a:t>
            </a:r>
            <a:r>
              <a:rPr lang="en-US" altLang="ko-KR" sz="1100" dirty="0"/>
              <a:t>.</a:t>
            </a:r>
            <a:br>
              <a:rPr lang="en-US" altLang="ko-KR" sz="1100" dirty="0"/>
            </a:br>
            <a:r>
              <a:rPr lang="en-US" altLang="ko-KR" sz="1100" dirty="0"/>
              <a:t>1) </a:t>
            </a:r>
            <a:r>
              <a:rPr lang="en-US" altLang="ko-KR" sz="1100" dirty="0" err="1"/>
              <a:t>SCP_Alloc</a:t>
            </a:r>
            <a:r>
              <a:rPr lang="en-US" altLang="ko-KR" sz="1100" dirty="0"/>
              <a:t> </a:t>
            </a:r>
            <a:r>
              <a:rPr lang="ko-KR" altLang="en-US" sz="1100" dirty="0"/>
              <a:t>의 값 </a:t>
            </a:r>
            <a:r>
              <a:rPr lang="en-US" altLang="ko-KR" sz="1100" dirty="0"/>
              <a:t>(  </a:t>
            </a:r>
            <a:r>
              <a:rPr lang="en-US" altLang="ko-KR" sz="1100" dirty="0" err="1"/>
              <a:t>Vmi</a:t>
            </a:r>
            <a:r>
              <a:rPr lang="en-US" altLang="ko-KR" sz="1100" dirty="0"/>
              <a:t> </a:t>
            </a:r>
            <a:r>
              <a:rPr lang="ko-KR" altLang="en-US" sz="1100" dirty="0"/>
              <a:t>이면 </a:t>
            </a:r>
            <a:r>
              <a:rPr lang="en-US" altLang="ko-KR" sz="1100" dirty="0" err="1"/>
              <a:t>VMI_In_Plan</a:t>
            </a:r>
            <a:r>
              <a:rPr lang="en-US" altLang="ko-KR" sz="1100" dirty="0"/>
              <a:t> </a:t>
            </a:r>
            <a:r>
              <a:rPr lang="ko-KR" altLang="en-US" sz="1100" dirty="0" err="1"/>
              <a:t>메저로</a:t>
            </a:r>
            <a:r>
              <a:rPr lang="en-US" altLang="ko-KR" sz="1100" dirty="0"/>
              <a:t>, </a:t>
            </a:r>
            <a:r>
              <a:rPr lang="ko-KR" altLang="en-US" sz="1100" dirty="0"/>
              <a:t>아니면 </a:t>
            </a:r>
            <a:r>
              <a:rPr lang="en-US" altLang="ko-KR" sz="1100" dirty="0"/>
              <a:t>RTF_SCP </a:t>
            </a:r>
            <a:r>
              <a:rPr lang="ko-KR" altLang="en-US" sz="1100" dirty="0" err="1"/>
              <a:t>메저로</a:t>
            </a:r>
            <a:r>
              <a:rPr lang="ko-KR" altLang="en-US" sz="1100" dirty="0"/>
              <a:t> </a:t>
            </a:r>
            <a:r>
              <a:rPr lang="en-US" altLang="ko-KR" sz="1100" dirty="0"/>
              <a:t>)</a:t>
            </a:r>
            <a:br>
              <a:rPr lang="en-US" altLang="ko-KR" sz="1100" dirty="0"/>
            </a:br>
            <a:r>
              <a:rPr lang="en-US" altLang="ko-KR" sz="1100" dirty="0"/>
              <a:t>2) DM_PLN_MKT_FCST </a:t>
            </a:r>
            <a:r>
              <a:rPr lang="ko-KR" altLang="en-US" sz="1100" dirty="0"/>
              <a:t>의 </a:t>
            </a:r>
            <a:r>
              <a:rPr lang="en-US" altLang="ko-KR" sz="1100" dirty="0" err="1"/>
              <a:t>VMI_In_Req</a:t>
            </a:r>
            <a:r>
              <a:rPr lang="en-US" altLang="ko-KR" sz="1100" dirty="0"/>
              <a:t> </a:t>
            </a:r>
            <a:r>
              <a:rPr lang="ko-KR" altLang="en-US" sz="1100" dirty="0"/>
              <a:t>또는 </a:t>
            </a:r>
            <a:r>
              <a:rPr lang="en-US" altLang="ko-KR" sz="1100" dirty="0"/>
              <a:t>MKT_FCST </a:t>
            </a:r>
            <a:r>
              <a:rPr lang="ko-KR" altLang="en-US" sz="1100" dirty="0" err="1"/>
              <a:t>메저</a:t>
            </a:r>
            <a:endParaRPr lang="en-US" altLang="ko-KR" sz="1100" dirty="0"/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DM_PLN_MKT_FCST </a:t>
            </a:r>
            <a:r>
              <a:rPr lang="ko-KR" altLang="en-US" sz="1100" dirty="0"/>
              <a:t>에 </a:t>
            </a:r>
            <a:r>
              <a:rPr lang="en-US" altLang="ko-KR" sz="1100" dirty="0"/>
              <a:t>#T_MKT_FCST_INSERT </a:t>
            </a:r>
            <a:r>
              <a:rPr lang="ko-KR" altLang="en-US" sz="1100" dirty="0"/>
              <a:t>값을 넣는다</a:t>
            </a:r>
            <a:r>
              <a:rPr lang="en-US" altLang="ko-KR" sz="1100" dirty="0"/>
              <a:t>. ( RTF_SCP </a:t>
            </a:r>
            <a:r>
              <a:rPr lang="ko-KR" altLang="en-US" sz="1100" dirty="0"/>
              <a:t>는 </a:t>
            </a:r>
            <a:r>
              <a:rPr lang="en-US" altLang="ko-KR" sz="1100" dirty="0"/>
              <a:t>RTF_SYS_RP </a:t>
            </a:r>
            <a:r>
              <a:rPr lang="ko-KR" altLang="en-US" sz="1100" dirty="0"/>
              <a:t>로 한 번 더 넣는다</a:t>
            </a:r>
            <a:r>
              <a:rPr lang="en-US" altLang="ko-KR" sz="1100" dirty="0"/>
              <a:t>. )</a:t>
            </a:r>
          </a:p>
          <a:p>
            <a:pPr marL="228600" indent="-228600">
              <a:buFontTx/>
              <a:buAutoNum type="arabicPeriod"/>
            </a:pPr>
            <a:r>
              <a:rPr lang="ko-KR" altLang="en-US" sz="1100" dirty="0"/>
              <a:t>소형 </a:t>
            </a:r>
            <a:r>
              <a:rPr lang="en-US" altLang="ko-KR" sz="1100" dirty="0"/>
              <a:t>RMA </a:t>
            </a:r>
            <a:r>
              <a:rPr lang="ko-KR" altLang="en-US" sz="1100" dirty="0"/>
              <a:t>에 대해서 </a:t>
            </a:r>
            <a:r>
              <a:rPr lang="en-US" altLang="ko-KR" sz="1100" dirty="0"/>
              <a:t>DM_PLN_MKT_FCST </a:t>
            </a:r>
            <a:r>
              <a:rPr lang="ko-KR" altLang="en-US" sz="1100" dirty="0"/>
              <a:t>의 </a:t>
            </a:r>
            <a:r>
              <a:rPr lang="en-US" altLang="ko-KR" sz="1100" dirty="0"/>
              <a:t>MKT_FCST </a:t>
            </a:r>
            <a:r>
              <a:rPr lang="ko-KR" altLang="en-US" sz="1100" dirty="0"/>
              <a:t>값을 </a:t>
            </a:r>
            <a:r>
              <a:rPr lang="en-US" altLang="ko-KR" sz="1100" dirty="0"/>
              <a:t>RTF_SYS_RP </a:t>
            </a:r>
            <a:r>
              <a:rPr lang="ko-KR" altLang="en-US" sz="1100" dirty="0"/>
              <a:t>로 넣는다</a:t>
            </a:r>
            <a:r>
              <a:rPr lang="en-US" altLang="ko-KR" sz="1100" dirty="0"/>
              <a:t>.</a:t>
            </a:r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VMI </a:t>
            </a:r>
            <a:r>
              <a:rPr lang="ko-KR" altLang="en-US" sz="1100" dirty="0"/>
              <a:t>처리</a:t>
            </a:r>
            <a:endParaRPr lang="en-US" altLang="ko-KR" sz="1100" dirty="0"/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Balance </a:t>
            </a:r>
            <a:r>
              <a:rPr lang="ko-KR" altLang="en-US" sz="1100" dirty="0" err="1"/>
              <a:t>메저</a:t>
            </a:r>
            <a:r>
              <a:rPr lang="ko-KR" altLang="en-US" sz="1100" dirty="0"/>
              <a:t> 생성</a:t>
            </a:r>
            <a:endParaRPr lang="en-US" altLang="ko-KR" sz="1100" dirty="0"/>
          </a:p>
          <a:p>
            <a:pPr marL="228600" indent="-228600">
              <a:buFontTx/>
              <a:buAutoNum type="arabicPeriod"/>
            </a:pPr>
            <a:r>
              <a:rPr lang="en-US" altLang="ko-KR" sz="1100" dirty="0"/>
              <a:t>PR_DM_ANL_SALES_PLAN_AMT_CREATE_LOCAL_KRW </a:t>
            </a:r>
            <a:r>
              <a:rPr lang="ko-KR" altLang="en-US" sz="1100" dirty="0"/>
              <a:t>호출</a:t>
            </a:r>
            <a:endParaRPr lang="en-US" altLang="ko-KR" sz="1100" dirty="0"/>
          </a:p>
          <a:p>
            <a:pPr marL="228600" indent="-228600">
              <a:buFontTx/>
              <a:buAutoNum type="arabicPeriod"/>
            </a:pPr>
            <a:endParaRPr lang="en-US" altLang="ko-KR" sz="1100" dirty="0"/>
          </a:p>
          <a:p>
            <a:pPr marL="228600" indent="-228600">
              <a:buFontTx/>
              <a:buAutoNum type="arabicPeriod"/>
            </a:pPr>
            <a:endParaRPr lang="en-US" altLang="ko-KR" sz="1100" dirty="0"/>
          </a:p>
          <a:p>
            <a:pPr marL="228600" indent="-228600">
              <a:buFontTx/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  <a:p>
            <a:pPr marL="228600" indent="-228600">
              <a:buAutoNum type="arabicPeriod"/>
            </a:pP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898502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PR_DM_PLN_MKT_FCST_C_QTY_BALANCE_CREATE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36482" y="780392"/>
            <a:ext cx="1136693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DM_MST_VERSION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에서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SCP PLAN DATE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이후의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MF_W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버전들을 모두 커서로 돌려서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각 버전들에 대해 아래 처리 수행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DM_PLN_MKT_FCST_C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에서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'RTF_SYS_RP','RTF_SCP','</a:t>
            </a:r>
            <a:r>
              <a:rPr lang="en-US" altLang="ko-KR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VMI_In_Plan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‘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메저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삭제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#T2_MKT_FCST_INSERT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1) VMI_IN_PLAN , RTF_SCP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메저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삽입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 FROM SCP_ALLOC)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2) VMI_IN_REQ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 VMI_IN_PLAN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MKT_FCST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 RTF_SCP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로 바꿔서 삽입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(FROM MKT_FCST_C)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</a:b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3)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소형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RMA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의 경우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MKT_FCST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메저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 삽입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( FROM MKT_FCST_C )</a:t>
            </a: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#T2_MKT_FCST_INSERT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의 모든 값을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MKT_FCST_C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에 인서트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( RTF_SCP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는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RTF_SYS_RP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로 한 번 더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VMI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처리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BALANCE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처리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buFontTx/>
              <a:buAutoNum type="arabicPeriod"/>
            </a:pP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buAutoNum type="arabicPeriod"/>
            </a:pP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42900" indent="-342900">
              <a:buAutoNum type="arabicPeriod"/>
            </a:pPr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8224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201333" y="670300"/>
            <a:ext cx="2469678" cy="42858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rgbClr val="000000"/>
                </a:solidFill>
              </a:rPr>
              <a:t>PR_DM_PLN_MKT_FCST_RESULT_MOVE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>
                <a:solidFill>
                  <a:srgbClr val="000000"/>
                </a:solidFill>
                <a:latin typeface="Arial"/>
              </a:rPr>
              <a:t>배치 </a:t>
            </a:r>
            <a:r>
              <a:rPr lang="en-US" altLang="ko-KR" dirty="0">
                <a:solidFill>
                  <a:srgbClr val="000000"/>
                </a:solidFill>
                <a:latin typeface="Arial"/>
              </a:rPr>
              <a:t>- </a:t>
            </a:r>
            <a:r>
              <a:rPr lang="en-US" altLang="ko-KR">
                <a:solidFill>
                  <a:srgbClr val="000000"/>
                </a:solidFill>
                <a:latin typeface="Arial"/>
              </a:rPr>
              <a:t>Weekly Rolling – MKT FCST Result Move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2190554" y="1821587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8409324" y="1821586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DM_PLN_MKT_FCST_RESULT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" name="직선 화살표 연결선 5"/>
          <p:cNvCxnSpPr>
            <a:stCxn id="3" idx="3"/>
            <a:endCxn id="35" idx="1"/>
          </p:cNvCxnSpPr>
          <p:nvPr/>
        </p:nvCxnSpPr>
        <p:spPr>
          <a:xfrm flipV="1">
            <a:off x="4452491" y="1921850"/>
            <a:ext cx="39568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899040" y="1675628"/>
            <a:ext cx="2917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지지난 월요일 </a:t>
            </a:r>
            <a:r>
              <a:rPr lang="en-US" altLang="ko-KR" sz="1000"/>
              <a:t>&lt;= YYYYMMDD &lt;</a:t>
            </a:r>
            <a:r>
              <a:rPr lang="ko-KR" altLang="en-US" sz="1000"/>
              <a:t> 지난</a:t>
            </a:r>
            <a:r>
              <a:rPr lang="en-US" altLang="ko-KR" sz="1000"/>
              <a:t>(</a:t>
            </a:r>
            <a:r>
              <a:rPr lang="ko-KR" altLang="en-US" sz="1000"/>
              <a:t>금주</a:t>
            </a:r>
            <a:r>
              <a:rPr lang="en-US" altLang="ko-KR" sz="1000"/>
              <a:t>)</a:t>
            </a:r>
            <a:r>
              <a:rPr lang="ko-KR" altLang="en-US" sz="1000"/>
              <a:t> 월요일</a:t>
            </a:r>
            <a:endParaRPr lang="ko-KR" altLang="en-US" sz="1000" dirty="0"/>
          </a:p>
        </p:txBody>
      </p:sp>
      <p:sp>
        <p:nvSpPr>
          <p:cNvPr id="40" name="직사각형 39"/>
          <p:cNvSpPr/>
          <p:nvPr/>
        </p:nvSpPr>
        <p:spPr>
          <a:xfrm>
            <a:off x="2214618" y="3333419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DM_PLN_MKT_FCST_RESULT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8433388" y="3333418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DM_PLN_MKT_FCST_RESULT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/>
          <p:cNvCxnSpPr>
            <a:stCxn id="40" idx="3"/>
            <a:endCxn id="41" idx="1"/>
          </p:cNvCxnSpPr>
          <p:nvPr/>
        </p:nvCxnSpPr>
        <p:spPr>
          <a:xfrm flipV="1">
            <a:off x="4476555" y="3433682"/>
            <a:ext cx="39568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>
            <a:stCxn id="7" idx="2"/>
          </p:cNvCxnSpPr>
          <p:nvPr/>
        </p:nvCxnSpPr>
        <p:spPr>
          <a:xfrm>
            <a:off x="1436172" y="1098884"/>
            <a:ext cx="0" cy="276466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/>
          <p:nvPr/>
        </p:nvCxnSpPr>
        <p:spPr>
          <a:xfrm>
            <a:off x="1436172" y="1921849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1451811" y="3433680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1935970" y="1253156"/>
            <a:ext cx="217239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RTF, VMI 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관련 </a:t>
            </a:r>
            <a:r>
              <a:rPr lang="ko-KR" altLang="en-US" sz="10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메저</a:t>
            </a:r>
            <a:r>
              <a:rPr lang="ko-KR" altLang="en-US" sz="1000" dirty="0">
                <a:latin typeface="돋움체" panose="020B0609000101010101" pitchFamily="49" charset="-127"/>
                <a:ea typeface="돋움체" panose="020B0609000101010101" pitchFamily="49" charset="-127"/>
              </a:rPr>
              <a:t> 생성 및 이동</a:t>
            </a:r>
            <a:endParaRPr lang="en-US" altLang="ko-KR" sz="1000" dirty="0">
              <a:solidFill>
                <a:srgbClr val="FF0000"/>
              </a:solidFill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267325" y="3533943"/>
            <a:ext cx="1566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RTF </a:t>
            </a:r>
            <a:r>
              <a:rPr lang="en-US" altLang="ko-KR" sz="1000">
                <a:sym typeface="Wingdings" panose="05000000000000000000" pitchFamily="2" charset="2"/>
              </a:rPr>
              <a:t> RTF_Sytem[R+P]</a:t>
            </a:r>
            <a:endParaRPr lang="ko-KR" altLang="en-US" sz="1000" dirty="0"/>
          </a:p>
        </p:txBody>
      </p:sp>
      <p:sp>
        <p:nvSpPr>
          <p:cNvPr id="38" name="TextBox 37"/>
          <p:cNvSpPr txBox="1"/>
          <p:nvPr/>
        </p:nvSpPr>
        <p:spPr>
          <a:xfrm>
            <a:off x="4899040" y="3187459"/>
            <a:ext cx="2917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/>
              <a:t>지지난 월요일 </a:t>
            </a:r>
            <a:r>
              <a:rPr lang="en-US" altLang="ko-KR" sz="1000"/>
              <a:t>&lt;= YYYYMMDD &lt;</a:t>
            </a:r>
            <a:r>
              <a:rPr lang="ko-KR" altLang="en-US" sz="1000"/>
              <a:t> 지난</a:t>
            </a:r>
            <a:r>
              <a:rPr lang="en-US" altLang="ko-KR" sz="1000"/>
              <a:t>(</a:t>
            </a:r>
            <a:r>
              <a:rPr lang="ko-KR" altLang="en-US" sz="1000"/>
              <a:t>금주</a:t>
            </a:r>
            <a:r>
              <a:rPr lang="en-US" altLang="ko-KR" sz="1000"/>
              <a:t>)</a:t>
            </a:r>
            <a:r>
              <a:rPr lang="ko-KR" altLang="en-US" sz="1000"/>
              <a:t> 월요일</a:t>
            </a:r>
            <a:endParaRPr lang="ko-KR" altLang="en-US"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502508" y="4753232"/>
            <a:ext cx="98571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_Result </a:t>
            </a:r>
            <a:r>
              <a:rPr lang="ko-KR" altLang="en-US"/>
              <a:t>테이블에는 </a:t>
            </a:r>
            <a:r>
              <a:rPr lang="en-US" altLang="ko-KR"/>
              <a:t>P+P </a:t>
            </a:r>
            <a:r>
              <a:rPr lang="ko-KR" altLang="en-US"/>
              <a:t>메저는 생성되지 않는데</a:t>
            </a:r>
            <a:r>
              <a:rPr lang="en-US" altLang="ko-KR"/>
              <a:t>, </a:t>
            </a:r>
            <a:r>
              <a:rPr lang="ko-KR" altLang="en-US"/>
              <a:t>조회화면에서 </a:t>
            </a:r>
            <a:r>
              <a:rPr lang="en-US" altLang="ko-KR"/>
              <a:t>P+P </a:t>
            </a:r>
            <a:r>
              <a:rPr lang="ko-KR" altLang="en-US"/>
              <a:t>메저와 </a:t>
            </a:r>
            <a:r>
              <a:rPr lang="en-US" altLang="ko-KR"/>
              <a:t>R+P </a:t>
            </a:r>
            <a:r>
              <a:rPr lang="ko-KR" altLang="en-US"/>
              <a:t>메저를 같이 조회할 때</a:t>
            </a:r>
            <a:endParaRPr lang="en-US" altLang="ko-KR"/>
          </a:p>
          <a:p>
            <a:r>
              <a:rPr lang="ko-KR" altLang="en-US"/>
              <a:t>같은 기간이라도 메저에 따라 실적테이블과 계획테이블을 나눠서 조회해야 하는 문제를 해결하기 위해서</a:t>
            </a:r>
            <a:endParaRPr lang="en-US" altLang="ko-KR"/>
          </a:p>
          <a:p>
            <a:r>
              <a:rPr lang="en-US" altLang="ko-KR"/>
              <a:t>P+P </a:t>
            </a:r>
            <a:r>
              <a:rPr lang="ko-KR" altLang="en-US"/>
              <a:t>성격의 메저를 실적테이블에 생성해주는 역할 수행</a:t>
            </a:r>
          </a:p>
        </p:txBody>
      </p:sp>
    </p:spTree>
    <p:extLst>
      <p:ext uri="{BB962C8B-B14F-4D97-AF65-F5344CB8AC3E}">
        <p14:creationId xmlns:p14="http://schemas.microsoft.com/office/powerpoint/2010/main" val="33733202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201333" y="670300"/>
            <a:ext cx="2469678" cy="42858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rgbClr val="000000"/>
                </a:solidFill>
              </a:rPr>
              <a:t>PR_DM_PLN_SALES_PLAN_RESULT_MOVE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ko-KR">
                <a:solidFill>
                  <a:srgbClr val="000000"/>
                </a:solidFill>
                <a:latin typeface="Arial"/>
              </a:rPr>
              <a:t>배치 </a:t>
            </a:r>
            <a:r>
              <a:rPr lang="en-US" altLang="ko-KR" dirty="0">
                <a:solidFill>
                  <a:srgbClr val="000000"/>
                </a:solidFill>
                <a:latin typeface="Arial"/>
              </a:rPr>
              <a:t>- Weekly Rolling</a:t>
            </a:r>
            <a:endParaRPr lang="ko-KR" altLang="en-US" dirty="0"/>
          </a:p>
        </p:txBody>
      </p:sp>
      <p:sp>
        <p:nvSpPr>
          <p:cNvPr id="40" name="직사각형 39"/>
          <p:cNvSpPr/>
          <p:nvPr/>
        </p:nvSpPr>
        <p:spPr>
          <a:xfrm>
            <a:off x="2214618" y="3333419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DM_PLN_SALES_PLAN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8433388" y="3333418"/>
            <a:ext cx="2261937" cy="20052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solidFill>
                  <a:schemeClr val="tx1"/>
                </a:solidFill>
              </a:rPr>
              <a:t>DM_PLN_SALES_PLAN_RESULT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42" name="직선 화살표 연결선 41"/>
          <p:cNvCxnSpPr>
            <a:stCxn id="40" idx="3"/>
            <a:endCxn id="41" idx="1"/>
          </p:cNvCxnSpPr>
          <p:nvPr/>
        </p:nvCxnSpPr>
        <p:spPr>
          <a:xfrm flipV="1">
            <a:off x="4476555" y="3433682"/>
            <a:ext cx="3956833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597172" y="3187459"/>
            <a:ext cx="3164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YYYYMMDD </a:t>
            </a:r>
            <a:r>
              <a:rPr lang="en-US" altLang="ko-KR" sz="1000" dirty="0" err="1"/>
              <a:t>Beween</a:t>
            </a:r>
            <a:r>
              <a:rPr lang="en-US" altLang="ko-KR" sz="1000" dirty="0"/>
              <a:t>  1</a:t>
            </a:r>
            <a:r>
              <a:rPr lang="ko-KR" altLang="en-US" sz="1000"/>
              <a:t>년전 부터 지난</a:t>
            </a:r>
            <a:r>
              <a:rPr lang="en-US" altLang="ko-KR" sz="1000" dirty="0"/>
              <a:t>(</a:t>
            </a:r>
            <a:r>
              <a:rPr lang="ko-KR" altLang="en-US" sz="1000"/>
              <a:t>금주</a:t>
            </a:r>
            <a:r>
              <a:rPr lang="en-US" altLang="ko-KR" sz="1000" dirty="0"/>
              <a:t>)</a:t>
            </a:r>
            <a:r>
              <a:rPr lang="ko-KR" altLang="en-US" sz="1000"/>
              <a:t> 월요일</a:t>
            </a:r>
            <a:endParaRPr lang="ko-KR" altLang="en-US" sz="1000" dirty="0"/>
          </a:p>
        </p:txBody>
      </p:sp>
      <p:cxnSp>
        <p:nvCxnSpPr>
          <p:cNvPr id="13" name="직선 연결선 12"/>
          <p:cNvCxnSpPr>
            <a:stCxn id="7" idx="2"/>
          </p:cNvCxnSpPr>
          <p:nvPr/>
        </p:nvCxnSpPr>
        <p:spPr>
          <a:xfrm flipH="1">
            <a:off x="1427747" y="1098884"/>
            <a:ext cx="8425" cy="435543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1451811" y="3433680"/>
            <a:ext cx="762807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직사각형 33"/>
          <p:cNvSpPr/>
          <p:nvPr/>
        </p:nvSpPr>
        <p:spPr>
          <a:xfrm>
            <a:off x="1935970" y="1253156"/>
            <a:ext cx="5955476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Mkt FCST, Cust Fcst, RTF System[R+P], TMM Fcst </a:t>
            </a:r>
            <a:r>
              <a:rPr lang="ko-KR" altLang="en-US" sz="1000">
                <a:latin typeface="돋움체" panose="020B0609000101010101" pitchFamily="49" charset="-127"/>
                <a:ea typeface="돋움체" panose="020B0609000101010101" pitchFamily="49" charset="-127"/>
              </a:rPr>
              <a:t>메저를 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Plan </a:t>
            </a:r>
            <a:r>
              <a:rPr lang="ko-KR" altLang="en-US" sz="1000">
                <a:latin typeface="돋움체" panose="020B0609000101010101" pitchFamily="49" charset="-127"/>
                <a:ea typeface="돋움체" panose="020B0609000101010101" pitchFamily="49" charset="-127"/>
              </a:rPr>
              <a:t>테이블에서 </a:t>
            </a:r>
            <a:r>
              <a:rPr lang="en-US" altLang="ko-KR" sz="1000">
                <a:latin typeface="돋움체" panose="020B0609000101010101" pitchFamily="49" charset="-127"/>
                <a:ea typeface="돋움체" panose="020B0609000101010101" pitchFamily="49" charset="-127"/>
              </a:rPr>
              <a:t>Result </a:t>
            </a:r>
            <a:r>
              <a:rPr lang="ko-KR" altLang="en-US" sz="1000">
                <a:latin typeface="돋움체" panose="020B0609000101010101" pitchFamily="49" charset="-127"/>
                <a:ea typeface="돋움체" panose="020B0609000101010101" pitchFamily="49" charset="-127"/>
              </a:rPr>
              <a:t>테이블로 복사</a:t>
            </a:r>
            <a:endParaRPr lang="en-US" altLang="ko-KR" sz="100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696686" y="3542981"/>
            <a:ext cx="1566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/>
              <a:t>RTF </a:t>
            </a:r>
            <a:r>
              <a:rPr lang="en-US" altLang="ko-KR" sz="1000">
                <a:sym typeface="Wingdings" panose="05000000000000000000" pitchFamily="2" charset="2"/>
              </a:rPr>
              <a:t> RTF_Sytem[R+P]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5456738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ERP </a:t>
            </a:r>
            <a:r>
              <a:rPr lang="ko-KR" altLang="en-US" dirty="0"/>
              <a:t>매출 실적 </a:t>
            </a:r>
            <a:r>
              <a:rPr lang="en-US" altLang="ko-KR" dirty="0"/>
              <a:t>JOB_RFC.</a:t>
            </a:r>
            <a:r>
              <a:rPr lang="ko-KR" altLang="en-US" dirty="0"/>
              <a:t>매출 실적 정보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817486"/>
              </p:ext>
            </p:extLst>
          </p:nvPr>
        </p:nvGraphicFramePr>
        <p:xfrm>
          <a:off x="288445" y="908991"/>
          <a:ext cx="8064571" cy="3261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7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매출 정보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ZSDOM_GSCM_SALES_RESULT 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ERP</a:t>
                      </a:r>
                      <a:r>
                        <a:rPr lang="en-US" altLang="ko-KR" sz="1400" b="0" baseline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( SD )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ZSDOM_GSCM_SALES_RESULT 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RFC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I/F TABLE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XIF_ERP_SALES_RESULT_R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PR_DM_DNM_SALES_RESULT_IF</a:t>
                      </a:r>
                    </a:p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PR_DM_PLN_MKT_FCST_SALES_RESULT_MAPPING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DM_DNM_SALES_RESULT_IF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DM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804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819876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ERP </a:t>
            </a:r>
            <a:r>
              <a:rPr lang="ko-KR" altLang="en-US" dirty="0"/>
              <a:t>매출 실적 </a:t>
            </a:r>
            <a:r>
              <a:rPr lang="en-US" altLang="ko-KR" dirty="0"/>
              <a:t>– ERP I/F </a:t>
            </a:r>
            <a:r>
              <a:rPr lang="ko-KR" altLang="en-US" dirty="0"/>
              <a:t>스케쥴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86811B-0B6B-2B26-E8F9-FB5815FB4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759" y="1247498"/>
            <a:ext cx="8345065" cy="20291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6D9B2F0-D02F-9958-9C68-DCAB12D01D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759" y="3581395"/>
            <a:ext cx="2067213" cy="176237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A1EED91-2F04-B266-DC62-EE6DD006A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7972" y="3564794"/>
            <a:ext cx="6925642" cy="1752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3746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727"/>
            <a:ext cx="10515600" cy="409575"/>
          </a:xfrm>
        </p:spPr>
        <p:txBody>
          <a:bodyPr/>
          <a:lstStyle/>
          <a:p>
            <a:r>
              <a:rPr lang="en-US" altLang="ko-KR" dirty="0"/>
              <a:t>ERP </a:t>
            </a:r>
            <a:r>
              <a:rPr lang="ko-KR" altLang="en-US" dirty="0"/>
              <a:t>매출 실적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27748" y="1181950"/>
            <a:ext cx="339227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XIF_ERP_SALES_RESULT_R_SN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" name="모서리가 둥근 직사각형 9"/>
          <p:cNvSpPr/>
          <p:nvPr/>
        </p:nvSpPr>
        <p:spPr>
          <a:xfrm>
            <a:off x="366107" y="2630352"/>
            <a:ext cx="3653727" cy="402021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PR_DM_DNM_SALES_RESULT_IF</a:t>
            </a:r>
            <a:endParaRPr lang="ko-KR" altLang="en-US" sz="16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44046" y="3806090"/>
            <a:ext cx="45239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실제 </a:t>
            </a:r>
            <a:r>
              <a:rPr lang="en-US" altLang="ko-KR" sz="1200" dirty="0"/>
              <a:t>DM </a:t>
            </a:r>
            <a:r>
              <a:rPr lang="ko-KR" altLang="en-US" sz="1200" dirty="0"/>
              <a:t>실적테이블에 데이터 적재하는 </a:t>
            </a:r>
            <a:r>
              <a:rPr lang="ko-KR" altLang="en-US" sz="1200" dirty="0" err="1"/>
              <a:t>프로시져</a:t>
            </a:r>
            <a:endParaRPr lang="en-US" altLang="ko-KR" sz="1200" dirty="0"/>
          </a:p>
          <a:p>
            <a:r>
              <a:rPr lang="ko-KR" altLang="en-US" sz="1200" dirty="0"/>
              <a:t>적재 진행여부는 </a:t>
            </a:r>
            <a:r>
              <a:rPr lang="ko-KR" altLang="en-US" sz="1200" dirty="0" err="1"/>
              <a:t>룩업</a:t>
            </a:r>
            <a:r>
              <a:rPr lang="en-US" altLang="ko-KR" sz="1200" dirty="0"/>
              <a:t>: RESULT_MAPPING_SCHEDULE</a:t>
            </a:r>
            <a:r>
              <a:rPr lang="ko-KR" altLang="en-US" sz="1200" dirty="0"/>
              <a:t>로 확인한다</a:t>
            </a:r>
            <a:r>
              <a:rPr lang="en-US" altLang="ko-KR" sz="1200" dirty="0"/>
              <a:t>. </a:t>
            </a:r>
            <a:endParaRPr lang="ko-KR" altLang="en-US" sz="1200" dirty="0"/>
          </a:p>
        </p:txBody>
      </p:sp>
      <p:sp>
        <p:nvSpPr>
          <p:cNvPr id="12" name="직사각형 11"/>
          <p:cNvSpPr/>
          <p:nvPr/>
        </p:nvSpPr>
        <p:spPr>
          <a:xfrm>
            <a:off x="2519271" y="3245455"/>
            <a:ext cx="3339761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DM_DNM_SALES_RESULT_IF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8" name="꺾인 연결선 17"/>
          <p:cNvCxnSpPr>
            <a:stCxn id="10" idx="2"/>
            <a:endCxn id="12" idx="1"/>
          </p:cNvCxnSpPr>
          <p:nvPr/>
        </p:nvCxnSpPr>
        <p:spPr>
          <a:xfrm rot="16200000" flipH="1">
            <a:off x="2157247" y="3068097"/>
            <a:ext cx="397748" cy="3263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963791" y="3185331"/>
            <a:ext cx="34772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현재 일자가 </a:t>
            </a:r>
            <a:r>
              <a:rPr lang="en-US" altLang="ko-KR" sz="1200" dirty="0"/>
              <a:t>1</a:t>
            </a:r>
            <a:r>
              <a:rPr lang="ko-KR" altLang="en-US" sz="1200" dirty="0"/>
              <a:t>일인 경우 전전월 </a:t>
            </a:r>
            <a:r>
              <a:rPr lang="en-US" altLang="ko-KR" sz="1200" dirty="0"/>
              <a:t>1</a:t>
            </a:r>
            <a:r>
              <a:rPr lang="ko-KR" altLang="en-US" sz="1200" dirty="0"/>
              <a:t>일부터 삭제 후 생성</a:t>
            </a:r>
            <a:endParaRPr lang="en-US" altLang="ko-KR" sz="1200" dirty="0"/>
          </a:p>
          <a:p>
            <a:r>
              <a:rPr lang="ko-KR" altLang="en-US" sz="1200" dirty="0"/>
              <a:t>나머지의 경우 전월 </a:t>
            </a:r>
            <a:r>
              <a:rPr lang="en-US" altLang="ko-KR" sz="1200" dirty="0"/>
              <a:t>1</a:t>
            </a:r>
            <a:r>
              <a:rPr lang="ko-KR" altLang="en-US" sz="1200" dirty="0"/>
              <a:t>일부터 삭제 후 재생성</a:t>
            </a:r>
          </a:p>
        </p:txBody>
      </p:sp>
      <p:sp>
        <p:nvSpPr>
          <p:cNvPr id="15" name="모서리가 둥근 직사각형 14"/>
          <p:cNvSpPr/>
          <p:nvPr/>
        </p:nvSpPr>
        <p:spPr>
          <a:xfrm>
            <a:off x="2442273" y="3879532"/>
            <a:ext cx="3653727" cy="402021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PR_DM_PLN_MKT_FCST_SALES_RESULT_MAPPING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6244046" y="4460470"/>
            <a:ext cx="353575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DM_PLN_MKT_FCST_RESULT</a:t>
            </a:r>
          </a:p>
        </p:txBody>
      </p:sp>
      <p:cxnSp>
        <p:nvCxnSpPr>
          <p:cNvPr id="19" name="꺾인 연결선 18"/>
          <p:cNvCxnSpPr>
            <a:stCxn id="10" idx="2"/>
            <a:endCxn id="15" idx="1"/>
          </p:cNvCxnSpPr>
          <p:nvPr/>
        </p:nvCxnSpPr>
        <p:spPr>
          <a:xfrm rot="16200000" flipH="1">
            <a:off x="1793537" y="3431807"/>
            <a:ext cx="1048170" cy="24930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stCxn id="15" idx="2"/>
            <a:endCxn id="17" idx="1"/>
          </p:cNvCxnSpPr>
          <p:nvPr/>
        </p:nvCxnSpPr>
        <p:spPr>
          <a:xfrm rot="16200000" flipH="1">
            <a:off x="5074800" y="3475889"/>
            <a:ext cx="363583" cy="19749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/>
          <p:cNvSpPr/>
          <p:nvPr/>
        </p:nvSpPr>
        <p:spPr>
          <a:xfrm>
            <a:off x="6244045" y="4993226"/>
            <a:ext cx="353575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DM_PLN_SALES_PLAN_RESULT</a:t>
            </a:r>
          </a:p>
        </p:txBody>
      </p:sp>
      <p:cxnSp>
        <p:nvCxnSpPr>
          <p:cNvPr id="24" name="꺾인 연결선 23"/>
          <p:cNvCxnSpPr>
            <a:stCxn id="15" idx="2"/>
            <a:endCxn id="23" idx="1"/>
          </p:cNvCxnSpPr>
          <p:nvPr/>
        </p:nvCxnSpPr>
        <p:spPr>
          <a:xfrm rot="16200000" flipH="1">
            <a:off x="4808422" y="3742268"/>
            <a:ext cx="896339" cy="197490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5450858" y="5946181"/>
            <a:ext cx="3653727" cy="303473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PR_DM_ANL_KPI_SALES_ACCURACY</a:t>
            </a:r>
          </a:p>
        </p:txBody>
      </p:sp>
      <p:sp>
        <p:nvSpPr>
          <p:cNvPr id="25" name="모서리가 둥근 직사각형 24"/>
          <p:cNvSpPr/>
          <p:nvPr/>
        </p:nvSpPr>
        <p:spPr>
          <a:xfrm>
            <a:off x="5450858" y="6427283"/>
            <a:ext cx="3653727" cy="303473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 dirty="0"/>
              <a:t>PR_DM_ANL_KPI_SUMMARY</a:t>
            </a:r>
          </a:p>
        </p:txBody>
      </p:sp>
      <p:cxnSp>
        <p:nvCxnSpPr>
          <p:cNvPr id="26" name="꺾인 연결선 25"/>
          <p:cNvCxnSpPr>
            <a:stCxn id="15" idx="2"/>
            <a:endCxn id="20" idx="1"/>
          </p:cNvCxnSpPr>
          <p:nvPr/>
        </p:nvCxnSpPr>
        <p:spPr>
          <a:xfrm rot="16200000" flipH="1">
            <a:off x="3951815" y="4598874"/>
            <a:ext cx="1816365" cy="11817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15" idx="2"/>
            <a:endCxn id="25" idx="1"/>
          </p:cNvCxnSpPr>
          <p:nvPr/>
        </p:nvCxnSpPr>
        <p:spPr>
          <a:xfrm rot="16200000" flipH="1">
            <a:off x="3711264" y="4839425"/>
            <a:ext cx="2297467" cy="1181721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D3DC59F-7E1F-E5A0-1400-C77758306E93}"/>
              </a:ext>
            </a:extLst>
          </p:cNvPr>
          <p:cNvSpPr txBox="1"/>
          <p:nvPr/>
        </p:nvSpPr>
        <p:spPr>
          <a:xfrm>
            <a:off x="327748" y="634519"/>
            <a:ext cx="339227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 err="1"/>
              <a:t>JOB_RFC.매출</a:t>
            </a:r>
            <a:r>
              <a:rPr lang="ko-KR" altLang="en-US" dirty="0"/>
              <a:t> 실적 정보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7B2E0DEF-3238-1F49-6939-4D3ACDBE0222}"/>
              </a:ext>
            </a:extLst>
          </p:cNvPr>
          <p:cNvCxnSpPr>
            <a:stCxn id="29" idx="2"/>
            <a:endCxn id="6" idx="0"/>
          </p:cNvCxnSpPr>
          <p:nvPr/>
        </p:nvCxnSpPr>
        <p:spPr>
          <a:xfrm>
            <a:off x="2023886" y="1003851"/>
            <a:ext cx="0" cy="178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AF52B71-8D75-572B-70AA-A54AE6623A7A}"/>
              </a:ext>
            </a:extLst>
          </p:cNvPr>
          <p:cNvSpPr txBox="1"/>
          <p:nvPr/>
        </p:nvSpPr>
        <p:spPr>
          <a:xfrm>
            <a:off x="327748" y="2045304"/>
            <a:ext cx="373044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JOB.PR_DM_DNM_SALES_RESULT</a:t>
            </a:r>
            <a:endParaRPr lang="ko-KR" altLang="en-US" dirty="0"/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A907EDF1-D5D3-8F5C-B0DF-E02786FED837}"/>
              </a:ext>
            </a:extLst>
          </p:cNvPr>
          <p:cNvCxnSpPr>
            <a:cxnSpLocks/>
            <a:stCxn id="48" idx="2"/>
            <a:endCxn id="10" idx="0"/>
          </p:cNvCxnSpPr>
          <p:nvPr/>
        </p:nvCxnSpPr>
        <p:spPr>
          <a:xfrm>
            <a:off x="2192971" y="2414636"/>
            <a:ext cx="0" cy="215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9AD8F00C-4360-EDFD-18A8-012B9930BE1B}"/>
              </a:ext>
            </a:extLst>
          </p:cNvPr>
          <p:cNvSpPr txBox="1"/>
          <p:nvPr/>
        </p:nvSpPr>
        <p:spPr>
          <a:xfrm>
            <a:off x="7517806" y="5398947"/>
            <a:ext cx="43845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rgbClr val="FF0000"/>
                </a:solidFill>
              </a:rPr>
              <a:t>※ 40 </a:t>
            </a:r>
            <a:r>
              <a:rPr lang="ko-KR" altLang="en-US" sz="1200" dirty="0">
                <a:solidFill>
                  <a:srgbClr val="FF0000"/>
                </a:solidFill>
              </a:rPr>
              <a:t>사업부의 경우에는 실적데이터로 받은 </a:t>
            </a:r>
            <a:r>
              <a:rPr lang="en-US" altLang="ko-KR" sz="1200" dirty="0">
                <a:solidFill>
                  <a:srgbClr val="FF0000"/>
                </a:solidFill>
              </a:rPr>
              <a:t>AMT</a:t>
            </a:r>
            <a:r>
              <a:rPr lang="ko-KR" altLang="en-US" sz="1200" dirty="0">
                <a:solidFill>
                  <a:srgbClr val="FF0000"/>
                </a:solidFill>
              </a:rPr>
              <a:t>를 사용하지 않고</a:t>
            </a:r>
            <a:r>
              <a:rPr lang="en-US" altLang="ko-KR" sz="1200" dirty="0">
                <a:solidFill>
                  <a:srgbClr val="FF0000"/>
                </a:solidFill>
              </a:rPr>
              <a:t>,</a:t>
            </a:r>
          </a:p>
          <a:p>
            <a:r>
              <a:rPr lang="en-US" altLang="ko-KR" sz="1200" dirty="0">
                <a:solidFill>
                  <a:srgbClr val="FF0000"/>
                </a:solidFill>
              </a:rPr>
              <a:t>ERP </a:t>
            </a:r>
            <a:r>
              <a:rPr lang="ko-KR" altLang="en-US" sz="1200" dirty="0">
                <a:solidFill>
                  <a:srgbClr val="FF0000"/>
                </a:solidFill>
              </a:rPr>
              <a:t>데이터 보관 후 환율 정보로 재계산 진행 </a:t>
            </a:r>
            <a:r>
              <a:rPr lang="en-US" altLang="ko-KR" sz="1200" dirty="0">
                <a:solidFill>
                  <a:srgbClr val="FF0000"/>
                </a:solidFill>
              </a:rPr>
              <a:t>※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052FE1-E073-A02E-83AD-87A3ED4CF845}"/>
              </a:ext>
            </a:extLst>
          </p:cNvPr>
          <p:cNvSpPr txBox="1"/>
          <p:nvPr/>
        </p:nvSpPr>
        <p:spPr>
          <a:xfrm>
            <a:off x="3883695" y="859335"/>
            <a:ext cx="442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※ERP</a:t>
            </a:r>
            <a:r>
              <a:rPr lang="ko-KR" altLang="en-US" dirty="0">
                <a:solidFill>
                  <a:srgbClr val="FF0000"/>
                </a:solidFill>
              </a:rPr>
              <a:t>에서 데이터를 </a:t>
            </a:r>
            <a:r>
              <a:rPr lang="ko-KR" altLang="en-US" dirty="0" err="1">
                <a:solidFill>
                  <a:srgbClr val="FF0000"/>
                </a:solidFill>
              </a:rPr>
              <a:t>준대로</a:t>
            </a:r>
            <a:r>
              <a:rPr lang="ko-KR" altLang="en-US" dirty="0">
                <a:solidFill>
                  <a:srgbClr val="FF0000"/>
                </a:solidFill>
              </a:rPr>
              <a:t> 그대로 받는다</a:t>
            </a:r>
            <a:r>
              <a:rPr lang="en-US" altLang="ko-KR" dirty="0">
                <a:solidFill>
                  <a:srgbClr val="FF0000"/>
                </a:solidFill>
              </a:rPr>
              <a:t> ※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18987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판매법인 재고</a:t>
            </a:r>
            <a:r>
              <a:rPr lang="en-US" altLang="ko-KR" dirty="0"/>
              <a:t> JOB_RFC.</a:t>
            </a:r>
            <a:r>
              <a:rPr lang="ko-KR" altLang="en-US" dirty="0"/>
              <a:t>판매법인</a:t>
            </a:r>
            <a:r>
              <a:rPr lang="en-US" altLang="ko-KR" dirty="0"/>
              <a:t>(G260) </a:t>
            </a:r>
            <a:r>
              <a:rPr lang="ko-KR" altLang="en-US" dirty="0"/>
              <a:t>재고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20890"/>
              </p:ext>
            </p:extLst>
          </p:nvPr>
        </p:nvGraphicFramePr>
        <p:xfrm>
          <a:off x="288445" y="908991"/>
          <a:ext cx="8064571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31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7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판매법인</a:t>
                      </a:r>
                      <a:r>
                        <a:rPr lang="en-US" altLang="ko-KR" sz="14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(G260) </a:t>
                      </a:r>
                      <a:r>
                        <a:rPr lang="ko-KR" altLang="en-US" sz="14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재고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ZSDMD_RFC_SCM_SALESCORP_STOCK 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ERP(SD)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ZSDMD_RFC_SCM_SALESCORP_STOCK 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RFC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I/F TABLE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XIF_ERP_SALES_STOCK_R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PR_SCM_DNM_STOCK_SALES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SCM_DNM_STOCK_SALES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DM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06523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판매법인 재고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419DDB-DB71-CA84-BAA5-C01CE8B75B2A}"/>
              </a:ext>
            </a:extLst>
          </p:cNvPr>
          <p:cNvSpPr txBox="1"/>
          <p:nvPr/>
        </p:nvSpPr>
        <p:spPr>
          <a:xfrm>
            <a:off x="327748" y="634519"/>
            <a:ext cx="3392275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JOB_RFC.</a:t>
            </a:r>
            <a:r>
              <a:rPr lang="ko-KR" altLang="en-US" dirty="0"/>
              <a:t>판매법인</a:t>
            </a:r>
            <a:r>
              <a:rPr lang="en-US" altLang="ko-KR" dirty="0"/>
              <a:t>(G260) </a:t>
            </a:r>
            <a:r>
              <a:rPr lang="ko-KR" altLang="en-US" dirty="0"/>
              <a:t>재고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39E6189-FD02-0BF6-D79A-4A60B7D1D8FC}"/>
              </a:ext>
            </a:extLst>
          </p:cNvPr>
          <p:cNvSpPr/>
          <p:nvPr/>
        </p:nvSpPr>
        <p:spPr>
          <a:xfrm>
            <a:off x="327748" y="1181950"/>
            <a:ext cx="3392275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XIF_ERP_SALES_STOCK_R_SN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07E2F1A4-2BE0-2AF9-77EE-4CA532DA1791}"/>
              </a:ext>
            </a:extLst>
          </p:cNvPr>
          <p:cNvCxnSpPr>
            <a:endCxn id="15" idx="0"/>
          </p:cNvCxnSpPr>
          <p:nvPr/>
        </p:nvCxnSpPr>
        <p:spPr>
          <a:xfrm>
            <a:off x="2023886" y="1003851"/>
            <a:ext cx="0" cy="178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F9D5672-2B29-FF2D-CF3B-4A902F39839B}"/>
              </a:ext>
            </a:extLst>
          </p:cNvPr>
          <p:cNvSpPr txBox="1"/>
          <p:nvPr/>
        </p:nvSpPr>
        <p:spPr>
          <a:xfrm>
            <a:off x="327748" y="1922802"/>
            <a:ext cx="44010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JOB.PR_SCM_DNM_STOCK_SALES</a:t>
            </a:r>
            <a:endParaRPr lang="ko-KR" altLang="en-US" dirty="0"/>
          </a:p>
        </p:txBody>
      </p:sp>
      <p:sp>
        <p:nvSpPr>
          <p:cNvPr id="18" name="모서리가 둥근 직사각형 9">
            <a:extLst>
              <a:ext uri="{FF2B5EF4-FFF2-40B4-BE49-F238E27FC236}">
                <a16:creationId xmlns:a16="http://schemas.microsoft.com/office/drawing/2014/main" id="{EF5D02E2-D2AA-C74D-9C20-68D297E976B4}"/>
              </a:ext>
            </a:extLst>
          </p:cNvPr>
          <p:cNvSpPr/>
          <p:nvPr/>
        </p:nvSpPr>
        <p:spPr>
          <a:xfrm>
            <a:off x="705741" y="2514127"/>
            <a:ext cx="3653727" cy="402021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PR_SCM_DNM_STOCK_SALE</a:t>
            </a:r>
            <a:endParaRPr lang="ko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C44BC28-9953-8238-65EE-627532AA4D7B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528251" y="2292134"/>
            <a:ext cx="4354" cy="221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2BB16C2-C1B0-2F6C-67EA-2910F8C7F9BD}"/>
              </a:ext>
            </a:extLst>
          </p:cNvPr>
          <p:cNvSpPr/>
          <p:nvPr/>
        </p:nvSpPr>
        <p:spPr>
          <a:xfrm>
            <a:off x="1082182" y="3211085"/>
            <a:ext cx="289213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+mn-ea"/>
              </a:rPr>
              <a:t>SCM_DNM_STOCK_SALES</a:t>
            </a:r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1554211-0546-0FE6-9605-363AB651E939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 flipH="1">
            <a:off x="2528251" y="2916148"/>
            <a:ext cx="4354" cy="2949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67C1E2B-8731-095B-A720-AECAFBC25DF5}"/>
              </a:ext>
            </a:extLst>
          </p:cNvPr>
          <p:cNvSpPr txBox="1"/>
          <p:nvPr/>
        </p:nvSpPr>
        <p:spPr>
          <a:xfrm>
            <a:off x="4065322" y="3211085"/>
            <a:ext cx="5117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82 </a:t>
            </a:r>
            <a:r>
              <a:rPr lang="ko-KR" altLang="en-US" sz="1200" dirty="0"/>
              <a:t>사업부의 경우 </a:t>
            </a:r>
            <a:r>
              <a:rPr lang="en-US" altLang="ko-KR" sz="1200" dirty="0"/>
              <a:t>AS INV / VMI INV </a:t>
            </a:r>
            <a:r>
              <a:rPr lang="ko-KR" altLang="en-US" sz="1200" dirty="0"/>
              <a:t>생성시 재고 데이터 체크하는 재고 테이블</a:t>
            </a:r>
            <a:endParaRPr lang="en-US" altLang="ko-KR" sz="1200" dirty="0"/>
          </a:p>
          <a:p>
            <a:r>
              <a:rPr lang="ko-KR" altLang="en-US" sz="1200" dirty="0"/>
              <a:t>실적 데이터 생성 시 사용 </a:t>
            </a:r>
          </a:p>
        </p:txBody>
      </p:sp>
    </p:spTree>
    <p:extLst>
      <p:ext uri="{BB962C8B-B14F-4D97-AF65-F5344CB8AC3E}">
        <p14:creationId xmlns:p14="http://schemas.microsoft.com/office/powerpoint/2010/main" val="35479765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Customer Master (</a:t>
            </a:r>
            <a:r>
              <a:rPr lang="en-US" altLang="ko-KR" dirty="0" err="1"/>
              <a:t>Soldto</a:t>
            </a:r>
            <a:r>
              <a:rPr lang="en-US" altLang="ko-KR" dirty="0"/>
              <a:t>, </a:t>
            </a:r>
            <a:r>
              <a:rPr lang="en-US" altLang="ko-KR" dirty="0" err="1"/>
              <a:t>Shipto</a:t>
            </a:r>
            <a:r>
              <a:rPr lang="en-US" altLang="ko-KR" dirty="0"/>
              <a:t>) </a:t>
            </a:r>
            <a:r>
              <a:rPr lang="en-US" altLang="ko-KR" dirty="0" err="1"/>
              <a:t>JOB_RFC.Customer</a:t>
            </a:r>
            <a:r>
              <a:rPr lang="en-US" altLang="ko-KR" dirty="0"/>
              <a:t> Master(</a:t>
            </a:r>
            <a:r>
              <a:rPr lang="en-US" altLang="ko-KR" dirty="0" err="1"/>
              <a:t>Soldto</a:t>
            </a:r>
            <a:r>
              <a:rPr lang="en-US" altLang="ko-KR" dirty="0"/>
              <a:t>, </a:t>
            </a:r>
            <a:r>
              <a:rPr lang="en-US" altLang="ko-KR" dirty="0" err="1"/>
              <a:t>Shipto</a:t>
            </a:r>
            <a:r>
              <a:rPr lang="en-US" altLang="ko-KR" dirty="0"/>
              <a:t>)</a:t>
            </a:r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162360"/>
              </p:ext>
            </p:extLst>
          </p:nvPr>
        </p:nvGraphicFramePr>
        <p:xfrm>
          <a:off x="288445" y="908991"/>
          <a:ext cx="10849112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Customer Master (Soldto, Shipto)</a:t>
                      </a:r>
                      <a:endParaRPr lang="ko-KR" altLang="en-US" sz="14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ZSDMD_RFC_SCM_CUSTOMER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ERP(SD)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ZSDMD_RFC_SCM_CUSTOMER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RFC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I/F TABLE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XIF_ERP_CUSTOMER_R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PR_SCM_MST_CUSTOMER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SCM_MST_CUSTOMER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DM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전용은 아님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(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다른 모듈들도 사용함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algn="ctr" latinLnBrk="1"/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SALES SITE 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와의 </a:t>
                      </a:r>
                      <a:r>
                        <a:rPr lang="ko-KR" altLang="en-US" sz="1400" b="0" baseline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연관성때문인지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DM 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관리함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7292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Customer Master (</a:t>
            </a:r>
            <a:r>
              <a:rPr lang="en-US" altLang="ko-KR" dirty="0" err="1"/>
              <a:t>Soldto</a:t>
            </a:r>
            <a:r>
              <a:rPr lang="en-US" altLang="ko-KR" dirty="0"/>
              <a:t>, </a:t>
            </a:r>
            <a:r>
              <a:rPr lang="en-US" altLang="ko-KR" dirty="0" err="1"/>
              <a:t>Shipto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3984684" y="3197390"/>
            <a:ext cx="4222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Sales Site </a:t>
            </a:r>
            <a:r>
              <a:rPr lang="ko-KR" altLang="en-US" dirty="0" err="1"/>
              <a:t>등록시</a:t>
            </a:r>
            <a:r>
              <a:rPr lang="ko-KR" altLang="en-US" dirty="0"/>
              <a:t> 사용 </a:t>
            </a:r>
            <a:r>
              <a:rPr lang="en-US" altLang="ko-KR" dirty="0"/>
              <a:t>( </a:t>
            </a:r>
            <a:r>
              <a:rPr lang="en-US" altLang="ko-KR" dirty="0" err="1"/>
              <a:t>Shipto</a:t>
            </a:r>
            <a:r>
              <a:rPr lang="en-US" altLang="ko-KR" dirty="0"/>
              <a:t> / </a:t>
            </a:r>
            <a:r>
              <a:rPr lang="en-US" altLang="ko-KR" dirty="0" err="1"/>
              <a:t>Soldto</a:t>
            </a:r>
            <a:r>
              <a:rPr lang="en-US" altLang="ko-KR" dirty="0"/>
              <a:t> )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9F39CA-4812-3249-BEFF-D066451D52FE}"/>
              </a:ext>
            </a:extLst>
          </p:cNvPr>
          <p:cNvSpPr txBox="1"/>
          <p:nvPr/>
        </p:nvSpPr>
        <p:spPr>
          <a:xfrm>
            <a:off x="327748" y="634519"/>
            <a:ext cx="47058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 err="1"/>
              <a:t>JOB_RFC.Customer</a:t>
            </a:r>
            <a:r>
              <a:rPr lang="en-US" altLang="ko-KR" dirty="0"/>
              <a:t> Master(</a:t>
            </a:r>
            <a:r>
              <a:rPr lang="en-US" altLang="ko-KR" dirty="0" err="1"/>
              <a:t>Soldto</a:t>
            </a:r>
            <a:r>
              <a:rPr lang="en-US" altLang="ko-KR" dirty="0"/>
              <a:t>, </a:t>
            </a:r>
            <a:r>
              <a:rPr lang="en-US" altLang="ko-KR" dirty="0" err="1"/>
              <a:t>Shipto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BE6F99E-2117-4548-B8BE-726EE3C24E18}"/>
              </a:ext>
            </a:extLst>
          </p:cNvPr>
          <p:cNvSpPr/>
          <p:nvPr/>
        </p:nvSpPr>
        <p:spPr>
          <a:xfrm>
            <a:off x="1174469" y="1211332"/>
            <a:ext cx="301236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XIF_ERP_CUSTOMER_R_SN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7125C4C-48B1-F4AD-7083-DC6F32E09DE8}"/>
              </a:ext>
            </a:extLst>
          </p:cNvPr>
          <p:cNvSpPr txBox="1"/>
          <p:nvPr/>
        </p:nvSpPr>
        <p:spPr>
          <a:xfrm>
            <a:off x="327748" y="1922802"/>
            <a:ext cx="44010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JOB.PR_SCM_MST_CUSTOMER</a:t>
            </a:r>
          </a:p>
        </p:txBody>
      </p:sp>
      <p:sp>
        <p:nvSpPr>
          <p:cNvPr id="16" name="모서리가 둥근 직사각형 9">
            <a:extLst>
              <a:ext uri="{FF2B5EF4-FFF2-40B4-BE49-F238E27FC236}">
                <a16:creationId xmlns:a16="http://schemas.microsoft.com/office/drawing/2014/main" id="{467F2240-3DEB-08C9-F456-C2E12924816A}"/>
              </a:ext>
            </a:extLst>
          </p:cNvPr>
          <p:cNvSpPr/>
          <p:nvPr/>
        </p:nvSpPr>
        <p:spPr>
          <a:xfrm>
            <a:off x="705741" y="2514127"/>
            <a:ext cx="3653727" cy="402021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PR_SCM_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MST_CUSTOMER</a:t>
            </a:r>
            <a:endParaRPr lang="ko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1594847-8E45-9BCE-FB37-4020C47BB134}"/>
              </a:ext>
            </a:extLst>
          </p:cNvPr>
          <p:cNvSpPr/>
          <p:nvPr/>
        </p:nvSpPr>
        <p:spPr>
          <a:xfrm>
            <a:off x="1256909" y="3183655"/>
            <a:ext cx="254268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latin typeface="+mn-ea"/>
              </a:rPr>
              <a:t>SCM_MST_CUSTOMER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3FD5E339-F3D4-B5B6-6DE6-878940CC28C3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2680651" y="1003851"/>
            <a:ext cx="0" cy="20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68C715C6-249D-F454-13F1-7001D209302E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>
            <a:off x="2528251" y="2292134"/>
            <a:ext cx="4354" cy="221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1A55ADC-E0E3-2A75-F091-4BEC4B67F8CE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2528251" y="2916148"/>
            <a:ext cx="4354" cy="267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89502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7D4783B-DDE1-D757-778E-5941C3B21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17463"/>
            <a:ext cx="10515600" cy="409575"/>
          </a:xfrm>
        </p:spPr>
        <p:txBody>
          <a:bodyPr/>
          <a:lstStyle/>
          <a:p>
            <a:r>
              <a:rPr lang="ko-KR" altLang="en-US" dirty="0"/>
              <a:t>자재 입</a:t>
            </a:r>
            <a:r>
              <a:rPr lang="en-US" altLang="ko-KR" dirty="0"/>
              <a:t>/</a:t>
            </a:r>
            <a:r>
              <a:rPr lang="ko-KR" altLang="en-US" dirty="0"/>
              <a:t>출고 정보 </a:t>
            </a:r>
            <a:r>
              <a:rPr lang="en-US" altLang="ko-KR" dirty="0"/>
              <a:t>JOB_RFC.DM_VMI_</a:t>
            </a:r>
            <a:r>
              <a:rPr lang="ko-KR" altLang="en-US" dirty="0"/>
              <a:t>재고 입출고 실적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70F3271-0795-6E15-F3C2-443D0B74F8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8437173"/>
              </p:ext>
            </p:extLst>
          </p:nvPr>
        </p:nvGraphicFramePr>
        <p:xfrm>
          <a:off x="288445" y="908991"/>
          <a:ext cx="1084911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DM MAT DOCUMENT 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자재 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출고 정보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ZMMIF_GSCM_MAT_DOCUMENT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ERP(MM)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ZMMIF_GSCM_MAT_DOCUMENT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RFC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I/F TABLE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XIF_ERP_MATERIAL_DOCUMENT_DM_R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PR_SCM_DNM_MAT_DOCUMENT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SCM_DNM_MAT_DOCUMENT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DM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48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제목 1">
            <a:extLst>
              <a:ext uri="{FF2B5EF4-FFF2-40B4-BE49-F238E27FC236}">
                <a16:creationId xmlns:a16="http://schemas.microsoft.com/office/drawing/2014/main" id="{48C6202A-F39E-0429-2EE6-111C374A7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17463"/>
            <a:ext cx="10515600" cy="409575"/>
          </a:xfrm>
        </p:spPr>
        <p:txBody>
          <a:bodyPr>
            <a:normAutofit/>
          </a:bodyPr>
          <a:lstStyle/>
          <a:p>
            <a:r>
              <a:rPr lang="ko-KR" altLang="en-US" dirty="0"/>
              <a:t>자재 입</a:t>
            </a:r>
            <a:r>
              <a:rPr lang="en-US" altLang="ko-KR" dirty="0"/>
              <a:t>/</a:t>
            </a:r>
            <a:r>
              <a:rPr lang="ko-KR" altLang="en-US" dirty="0"/>
              <a:t>출고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53F457-57A4-CF4B-FD5E-A76B281C0AF3}"/>
              </a:ext>
            </a:extLst>
          </p:cNvPr>
          <p:cNvSpPr txBox="1"/>
          <p:nvPr/>
        </p:nvSpPr>
        <p:spPr>
          <a:xfrm>
            <a:off x="6022490" y="3702417"/>
            <a:ext cx="32431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실적 데이터 생성 시</a:t>
            </a:r>
            <a:endParaRPr lang="en-US" altLang="ko-KR" dirty="0"/>
          </a:p>
          <a:p>
            <a:r>
              <a:rPr lang="en-US" altLang="ko-KR" dirty="0"/>
              <a:t>40</a:t>
            </a:r>
            <a:r>
              <a:rPr lang="ko-KR" altLang="en-US" dirty="0"/>
              <a:t>사업부 재고 </a:t>
            </a:r>
            <a:r>
              <a:rPr lang="en-US" altLang="ko-KR" dirty="0"/>
              <a:t>VMI </a:t>
            </a:r>
            <a:r>
              <a:rPr lang="ko-KR" altLang="en-US" dirty="0"/>
              <a:t>생성 데이터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D9D597-78DC-4F08-4BF7-9F493E7CC3A7}"/>
              </a:ext>
            </a:extLst>
          </p:cNvPr>
          <p:cNvSpPr txBox="1"/>
          <p:nvPr/>
        </p:nvSpPr>
        <p:spPr>
          <a:xfrm>
            <a:off x="327748" y="634519"/>
            <a:ext cx="47058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JOB_RFC.DM_VMI_</a:t>
            </a:r>
            <a:r>
              <a:rPr lang="ko-KR" altLang="en-US" dirty="0"/>
              <a:t>재고 입출고 실적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8D31D92-877D-B1D2-E091-66DEA27F5C00}"/>
              </a:ext>
            </a:extLst>
          </p:cNvPr>
          <p:cNvSpPr/>
          <p:nvPr/>
        </p:nvSpPr>
        <p:spPr>
          <a:xfrm>
            <a:off x="522047" y="1211332"/>
            <a:ext cx="4317207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pt-BR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XIF_ERP_MATERIAL_DOCUMENT_DM_R</a:t>
            </a:r>
            <a:endParaRPr lang="ko-KR" altLang="en-US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모서리가 둥근 직사각형 9">
            <a:extLst>
              <a:ext uri="{FF2B5EF4-FFF2-40B4-BE49-F238E27FC236}">
                <a16:creationId xmlns:a16="http://schemas.microsoft.com/office/drawing/2014/main" id="{CBF07859-5134-4129-6F1C-EFD1A9120D77}"/>
              </a:ext>
            </a:extLst>
          </p:cNvPr>
          <p:cNvSpPr/>
          <p:nvPr/>
        </p:nvSpPr>
        <p:spPr>
          <a:xfrm>
            <a:off x="627361" y="1825746"/>
            <a:ext cx="4218277" cy="402021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bg1"/>
                </a:solidFill>
                <a:latin typeface="+mj-ea"/>
                <a:ea typeface="+mj-ea"/>
              </a:rPr>
              <a:t>PR_SCM_DNM_MAT_DOCUMENT</a:t>
            </a:r>
            <a:endParaRPr lang="ko-KR" altLang="en-US" sz="160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82749C8-F81C-62E7-81AE-CB8A49010D08}"/>
              </a:ext>
            </a:extLst>
          </p:cNvPr>
          <p:cNvSpPr/>
          <p:nvPr/>
        </p:nvSpPr>
        <p:spPr>
          <a:xfrm>
            <a:off x="1049492" y="2472849"/>
            <a:ext cx="325762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</a:rPr>
              <a:t>SCM_DNM_MAT_DOCUMENT</a:t>
            </a:r>
            <a:endParaRPr lang="en-US" altLang="ko-KR" dirty="0">
              <a:latin typeface="+mn-ea"/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AB6F541-16D9-1F76-7F7E-C2892A87982D}"/>
              </a:ext>
            </a:extLst>
          </p:cNvPr>
          <p:cNvCxnSpPr>
            <a:cxnSpLocks/>
          </p:cNvCxnSpPr>
          <p:nvPr/>
        </p:nvCxnSpPr>
        <p:spPr>
          <a:xfrm>
            <a:off x="2680651" y="1003851"/>
            <a:ext cx="0" cy="207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B797818-D095-289D-8DA8-6D4AF020710D}"/>
              </a:ext>
            </a:extLst>
          </p:cNvPr>
          <p:cNvCxnSpPr>
            <a:cxnSpLocks/>
          </p:cNvCxnSpPr>
          <p:nvPr/>
        </p:nvCxnSpPr>
        <p:spPr>
          <a:xfrm>
            <a:off x="2678304" y="1590220"/>
            <a:ext cx="4354" cy="2219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E54AEC8-CEBC-02C4-8D13-4A078B9600E8}"/>
              </a:ext>
            </a:extLst>
          </p:cNvPr>
          <p:cNvCxnSpPr>
            <a:cxnSpLocks/>
          </p:cNvCxnSpPr>
          <p:nvPr/>
        </p:nvCxnSpPr>
        <p:spPr>
          <a:xfrm flipH="1">
            <a:off x="2678304" y="2192899"/>
            <a:ext cx="4354" cy="267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955C022-22E4-8302-003C-6EE6A6357B2F}"/>
              </a:ext>
            </a:extLst>
          </p:cNvPr>
          <p:cNvCxnSpPr>
            <a:cxnSpLocks/>
          </p:cNvCxnSpPr>
          <p:nvPr/>
        </p:nvCxnSpPr>
        <p:spPr>
          <a:xfrm flipH="1">
            <a:off x="2678303" y="2818749"/>
            <a:ext cx="4354" cy="267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0784BDE-63F4-B15E-656A-EEDC04A15EC4}"/>
              </a:ext>
            </a:extLst>
          </p:cNvPr>
          <p:cNvSpPr/>
          <p:nvPr/>
        </p:nvSpPr>
        <p:spPr>
          <a:xfrm>
            <a:off x="1049492" y="3086552"/>
            <a:ext cx="3530134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+mn-ea"/>
              </a:rPr>
              <a:t>SCM_DNM_MAT_DOCUMENT_H</a:t>
            </a:r>
            <a:endParaRPr lang="en-US" altLang="ko-KR" dirty="0">
              <a:latin typeface="+mn-ea"/>
            </a:endParaRPr>
          </a:p>
        </p:txBody>
      </p:sp>
      <p:sp>
        <p:nvSpPr>
          <p:cNvPr id="22" name="모서리가 둥근 직사각형 48">
            <a:extLst>
              <a:ext uri="{FF2B5EF4-FFF2-40B4-BE49-F238E27FC236}">
                <a16:creationId xmlns:a16="http://schemas.microsoft.com/office/drawing/2014/main" id="{22858600-B154-A62E-A350-3C50746A8759}"/>
              </a:ext>
            </a:extLst>
          </p:cNvPr>
          <p:cNvSpPr/>
          <p:nvPr/>
        </p:nvSpPr>
        <p:spPr>
          <a:xfrm>
            <a:off x="6096000" y="4348748"/>
            <a:ext cx="5633157" cy="343335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dirty="0">
                <a:latin typeface="+mn-ea"/>
              </a:rPr>
              <a:t>PR_DM_PLN_MKT_FCST_SALES_RESULT_MAPPING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0475F04-B321-2A55-7CB2-BC6B32695AB1}"/>
              </a:ext>
            </a:extLst>
          </p:cNvPr>
          <p:cNvSpPr/>
          <p:nvPr/>
        </p:nvSpPr>
        <p:spPr>
          <a:xfrm>
            <a:off x="5904411" y="3546175"/>
            <a:ext cx="6061166" cy="134804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309F96B7-6487-C09A-58BF-4564BC020093}"/>
              </a:ext>
            </a:extLst>
          </p:cNvPr>
          <p:cNvCxnSpPr>
            <a:cxnSpLocks/>
            <a:stCxn id="16" idx="3"/>
            <a:endCxn id="24" idx="0"/>
          </p:cNvCxnSpPr>
          <p:nvPr/>
        </p:nvCxnSpPr>
        <p:spPr>
          <a:xfrm>
            <a:off x="4307115" y="2657515"/>
            <a:ext cx="4627879" cy="8886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35C3EE64-7DFC-6155-9354-44E079845D0E}"/>
              </a:ext>
            </a:extLst>
          </p:cNvPr>
          <p:cNvSpPr txBox="1"/>
          <p:nvPr/>
        </p:nvSpPr>
        <p:spPr>
          <a:xfrm>
            <a:off x="8934994" y="3121703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>
                <a:solidFill>
                  <a:srgbClr val="FF0000"/>
                </a:solidFill>
              </a:rPr>
              <a:t>테이블 활용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2659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PROJECT</a:t>
            </a:r>
            <a:endParaRPr lang="ko-KR" altLang="en-US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467535"/>
              </p:ext>
            </p:extLst>
          </p:nvPr>
        </p:nvGraphicFramePr>
        <p:xfrm>
          <a:off x="288445" y="1114937"/>
          <a:ext cx="10849112" cy="460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PROJECT</a:t>
                      </a:r>
                      <a:endParaRPr lang="ko-KR" altLang="en-US" sz="1400" b="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OPLM_OFP0_PLM_PJT_BPMS, OPLM_OFP0_PLM_DV_MASTER, OPLM_OFP0_PLM_MODEL, OPLM_OFP0_PLM_SCH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PLM, BPMS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OPLM_OFP0_PLM_PJT_BPMS, OPLM_OFP0_PLM_DV_MASTER, OPLM_OFP0_PLM_MODEL, OPLM_OFP0_PLM_SCH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SAP PI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I/F TABLE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XIF_PLM_PJT_BPMS_R, XIF_PLM_PJT_DV_MASTER_R, XIF_PLM_PJT_MODEL_MASTER_R, XIF_PLM_PJT_MODEL_QUANTITY_R, XIF_PLM_PJT_SCHEDULE_R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PR_SCM_MST_PROJECT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SCM_MST_PROJECT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SCM_MST_PROJECT_MAPPING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SCM_MST_PROJECT_ITEM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SCM_MST_PROJECT_SCHEDULE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공통이지만</a:t>
                      </a:r>
                      <a:r>
                        <a:rPr lang="en-US" altLang="ko-KR" sz="1400" b="0" baseline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DM </a:t>
                      </a:r>
                      <a:r>
                        <a:rPr lang="ko-KR" altLang="en-US" sz="1400" b="0" baseline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 관리함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인터페이스목록에 있는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System Project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모델 소요량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(OPLM_OFP0_PLM_SYSPJT_MODEL_QUANTITY)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은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2020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년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월까지 실행 후 </a:t>
                      </a:r>
                      <a:r>
                        <a:rPr lang="ko-KR" altLang="en-US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실행이력이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없음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05946" y="535460"/>
            <a:ext cx="45817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4</a:t>
            </a:r>
            <a:r>
              <a:rPr lang="ko-KR" altLang="en-US"/>
              <a:t>개의 </a:t>
            </a:r>
            <a:r>
              <a:rPr lang="en-US" altLang="ko-KR"/>
              <a:t>I/F </a:t>
            </a:r>
            <a:r>
              <a:rPr lang="ko-KR" altLang="en-US"/>
              <a:t>가 하나의 수신 프로시저에 묶여있음</a:t>
            </a:r>
            <a:r>
              <a:rPr lang="en-US" altLang="ko-KR"/>
              <a:t>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56240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/>
        </p:nvSpPr>
        <p:spPr>
          <a:xfrm>
            <a:off x="621820" y="969239"/>
            <a:ext cx="2469678" cy="428584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PR_SCM_MST_PROJECT</a:t>
            </a:r>
          </a:p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(JOB. PR_SCM_MST_PROJECT)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600" kern="1200" dirty="0">
                <a:solidFill>
                  <a:srgbClr val="000000"/>
                </a:solidFill>
                <a:effectLst/>
                <a:latin typeface="Arial"/>
                <a:ea typeface="굴림체"/>
              </a:rPr>
              <a:t>배치 프로시저 </a:t>
            </a:r>
            <a:r>
              <a:rPr lang="en-US" altLang="ko-KR" sz="1600" kern="1200" dirty="0">
                <a:solidFill>
                  <a:srgbClr val="000000"/>
                </a:solidFill>
                <a:effectLst/>
                <a:latin typeface="Arial"/>
                <a:ea typeface="굴림체"/>
              </a:rPr>
              <a:t>- </a:t>
            </a:r>
            <a:r>
              <a:rPr lang="en-US" altLang="ko-KR" dirty="0"/>
              <a:t>PR_SCM_MST_PROJECT – </a:t>
            </a:r>
            <a:r>
              <a:rPr lang="ko-KR" altLang="en-US" dirty="0"/>
              <a:t>개발</a:t>
            </a:r>
            <a:r>
              <a:rPr lang="en-US" altLang="ko-KR" dirty="0"/>
              <a:t>/</a:t>
            </a:r>
            <a:r>
              <a:rPr lang="ko-KR" altLang="en-US" dirty="0"/>
              <a:t>운영이 달라서 운영기준으로 동기화</a:t>
            </a:r>
            <a:r>
              <a:rPr lang="en-US" altLang="ko-KR" dirty="0"/>
              <a:t>(2020/7/22)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965247" y="1350247"/>
            <a:ext cx="1798707" cy="29782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SCM_MST_PROJECT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3" name="모서리가 둥근 직사각형 32"/>
          <p:cNvSpPr/>
          <p:nvPr/>
        </p:nvSpPr>
        <p:spPr>
          <a:xfrm>
            <a:off x="1315503" y="2287049"/>
            <a:ext cx="2469678" cy="441276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dk1"/>
                </a:solidFill>
              </a:rPr>
              <a:t>PR_SCM_MST_PROJECT_DV_MASTER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5" name="꺾인 연결선 4"/>
          <p:cNvCxnSpPr>
            <a:stCxn id="7" idx="2"/>
            <a:endCxn id="33" idx="1"/>
          </p:cNvCxnSpPr>
          <p:nvPr/>
        </p:nvCxnSpPr>
        <p:spPr>
          <a:xfrm rot="5400000">
            <a:off x="1031149" y="1682177"/>
            <a:ext cx="1109864" cy="541156"/>
          </a:xfrm>
          <a:prstGeom prst="bentConnector4">
            <a:avLst>
              <a:gd name="adj1" fmla="val 40060"/>
              <a:gd name="adj2" fmla="val 14224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/>
          <p:cNvSpPr/>
          <p:nvPr/>
        </p:nvSpPr>
        <p:spPr>
          <a:xfrm>
            <a:off x="6432297" y="2535893"/>
            <a:ext cx="2234186" cy="344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SCM_MST_PROJECT_MAPPING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0" name="꺾인 연결선 49"/>
          <p:cNvCxnSpPr>
            <a:stCxn id="33" idx="2"/>
            <a:endCxn id="27" idx="1"/>
          </p:cNvCxnSpPr>
          <p:nvPr/>
        </p:nvCxnSpPr>
        <p:spPr>
          <a:xfrm rot="5400000">
            <a:off x="1629078" y="2856185"/>
            <a:ext cx="1049124" cy="793405"/>
          </a:xfrm>
          <a:prstGeom prst="bentConnector4">
            <a:avLst>
              <a:gd name="adj1" fmla="val 39485"/>
              <a:gd name="adj2" fmla="val 12881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8567628" y="4026230"/>
            <a:ext cx="2234186" cy="34487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SCM_MST_PROJECT_MODEL_DEMAND_QTY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8" name="직사각형 67"/>
          <p:cNvSpPr/>
          <p:nvPr/>
        </p:nvSpPr>
        <p:spPr>
          <a:xfrm>
            <a:off x="5549665" y="3907266"/>
            <a:ext cx="2234186" cy="344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SCM_MST_PROJECT_ITEM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9" name="모서리가 둥근 직사각형 68"/>
          <p:cNvSpPr/>
          <p:nvPr/>
        </p:nvSpPr>
        <p:spPr>
          <a:xfrm>
            <a:off x="1658747" y="4708268"/>
            <a:ext cx="2469678" cy="441276"/>
          </a:xfrm>
          <a:prstGeom prst="roundRect">
            <a:avLst>
              <a:gd name="adj" fmla="val 5000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dk1"/>
                </a:solidFill>
              </a:rPr>
              <a:t>PR_SCM_MST_PROJECT_SCHEDULE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579983" y="5757393"/>
            <a:ext cx="2469678" cy="441276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dk1"/>
                </a:solidFill>
              </a:rPr>
              <a:t>PR_SCM_MST_PROJECTBOM</a:t>
            </a:r>
            <a:endParaRPr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71" name="꺾인 연결선 70"/>
          <p:cNvCxnSpPr>
            <a:stCxn id="27" idx="2"/>
            <a:endCxn id="69" idx="1"/>
          </p:cNvCxnSpPr>
          <p:nvPr/>
        </p:nvCxnSpPr>
        <p:spPr>
          <a:xfrm rot="5400000">
            <a:off x="1859853" y="3796982"/>
            <a:ext cx="930819" cy="1333029"/>
          </a:xfrm>
          <a:prstGeom prst="bentConnector4">
            <a:avLst>
              <a:gd name="adj1" fmla="val 38148"/>
              <a:gd name="adj2" fmla="val 11714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27" idx="2"/>
            <a:endCxn id="70" idx="1"/>
          </p:cNvCxnSpPr>
          <p:nvPr/>
        </p:nvCxnSpPr>
        <p:spPr>
          <a:xfrm rot="5400000">
            <a:off x="1295908" y="4282163"/>
            <a:ext cx="1979944" cy="1411793"/>
          </a:xfrm>
          <a:prstGeom prst="bentConnector4">
            <a:avLst>
              <a:gd name="adj1" fmla="val 12179"/>
              <a:gd name="adj2" fmla="val 11619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직사각형 77"/>
          <p:cNvSpPr/>
          <p:nvPr/>
        </p:nvSpPr>
        <p:spPr>
          <a:xfrm>
            <a:off x="5265073" y="5107153"/>
            <a:ext cx="2234186" cy="344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SCM_MST_PROJECT_SCHEDULE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모서리가 둥근 직사각형 26"/>
          <p:cNvSpPr/>
          <p:nvPr/>
        </p:nvSpPr>
        <p:spPr>
          <a:xfrm>
            <a:off x="1756937" y="3556811"/>
            <a:ext cx="2469678" cy="441276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dk1"/>
                </a:solidFill>
                <a:highlight>
                  <a:srgbClr val="FFFF00"/>
                </a:highlight>
              </a:rPr>
              <a:t>PR_SCM_MST_PROJECT_ITEM</a:t>
            </a:r>
            <a:endParaRPr lang="ko-KR" altLang="en-US" sz="900" b="1" dirty="0">
              <a:solidFill>
                <a:schemeClr val="tx1"/>
              </a:solidFill>
              <a:highlight>
                <a:srgbClr val="FFFF00"/>
              </a:highlight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3919543" y="643810"/>
            <a:ext cx="1810445" cy="34818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xif_plm_pjt_bpms_r_sn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14" name="구부러진 연결선 13"/>
          <p:cNvCxnSpPr>
            <a:stCxn id="6" idx="2"/>
            <a:endCxn id="7" idx="3"/>
          </p:cNvCxnSpPr>
          <p:nvPr/>
        </p:nvCxnSpPr>
        <p:spPr>
          <a:xfrm rot="5400000">
            <a:off x="3862362" y="221127"/>
            <a:ext cx="191540" cy="173326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구부러진 연결선 31"/>
          <p:cNvCxnSpPr>
            <a:stCxn id="7" idx="3"/>
            <a:endCxn id="3" idx="1"/>
          </p:cNvCxnSpPr>
          <p:nvPr/>
        </p:nvCxnSpPr>
        <p:spPr>
          <a:xfrm>
            <a:off x="3091498" y="1183531"/>
            <a:ext cx="873749" cy="3156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/>
          <p:cNvSpPr/>
          <p:nvPr/>
        </p:nvSpPr>
        <p:spPr>
          <a:xfrm>
            <a:off x="6432297" y="1887139"/>
            <a:ext cx="2234186" cy="34818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>
                <a:solidFill>
                  <a:schemeClr val="tx1"/>
                </a:solidFill>
              </a:rPr>
              <a:t>xif_plm_pjt_dv_master_r_sn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37" name="구부러진 연결선 36"/>
          <p:cNvCxnSpPr>
            <a:stCxn id="36" idx="1"/>
            <a:endCxn id="33" idx="3"/>
          </p:cNvCxnSpPr>
          <p:nvPr/>
        </p:nvCxnSpPr>
        <p:spPr>
          <a:xfrm rot="10800000" flipV="1">
            <a:off x="3785181" y="2061229"/>
            <a:ext cx="2647116" cy="44645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구부러진 연결선 39"/>
          <p:cNvCxnSpPr>
            <a:stCxn id="33" idx="3"/>
            <a:endCxn id="21" idx="1"/>
          </p:cNvCxnSpPr>
          <p:nvPr/>
        </p:nvCxnSpPr>
        <p:spPr>
          <a:xfrm>
            <a:off x="3785181" y="2507687"/>
            <a:ext cx="2647116" cy="20064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구부러진 연결선 54"/>
          <p:cNvCxnSpPr>
            <a:stCxn id="33" idx="3"/>
            <a:endCxn id="3" idx="2"/>
          </p:cNvCxnSpPr>
          <p:nvPr/>
        </p:nvCxnSpPr>
        <p:spPr>
          <a:xfrm flipV="1">
            <a:off x="3785181" y="1648071"/>
            <a:ext cx="1079420" cy="859616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/>
          <p:cNvSpPr/>
          <p:nvPr/>
        </p:nvSpPr>
        <p:spPr>
          <a:xfrm>
            <a:off x="3785181" y="1936367"/>
            <a:ext cx="147989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 err="1"/>
              <a:t>gplm_mapping_yn</a:t>
            </a:r>
            <a:r>
              <a:rPr lang="en-US" altLang="ko-KR" sz="1000" dirty="0"/>
              <a:t> = ‘Y’</a:t>
            </a:r>
            <a:endParaRPr lang="ko-KR" altLang="en-US" sz="1000" dirty="0"/>
          </a:p>
        </p:txBody>
      </p:sp>
      <p:cxnSp>
        <p:nvCxnSpPr>
          <p:cNvPr id="63" name="구부러진 연결선 62"/>
          <p:cNvCxnSpPr>
            <a:stCxn id="33" idx="3"/>
            <a:endCxn id="6" idx="3"/>
          </p:cNvCxnSpPr>
          <p:nvPr/>
        </p:nvCxnSpPr>
        <p:spPr>
          <a:xfrm flipV="1">
            <a:off x="3785181" y="817901"/>
            <a:ext cx="1944807" cy="1689786"/>
          </a:xfrm>
          <a:prstGeom prst="curvedConnector3">
            <a:avLst>
              <a:gd name="adj1" fmla="val 12107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직사각형 66"/>
          <p:cNvSpPr/>
          <p:nvPr/>
        </p:nvSpPr>
        <p:spPr>
          <a:xfrm>
            <a:off x="5814552" y="1054143"/>
            <a:ext cx="116957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attr_15 = ‘Y’</a:t>
            </a:r>
            <a:endParaRPr lang="ko-KR" altLang="en-US" sz="1000" dirty="0"/>
          </a:p>
        </p:txBody>
      </p:sp>
      <p:sp>
        <p:nvSpPr>
          <p:cNvPr id="72" name="직사각형 71"/>
          <p:cNvSpPr/>
          <p:nvPr/>
        </p:nvSpPr>
        <p:spPr>
          <a:xfrm>
            <a:off x="5549665" y="3338363"/>
            <a:ext cx="2234186" cy="344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xif_plm_pjt_model_master_r_sn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73" name="구부러진 연결선 72"/>
          <p:cNvCxnSpPr>
            <a:stCxn id="72" idx="1"/>
            <a:endCxn id="27" idx="3"/>
          </p:cNvCxnSpPr>
          <p:nvPr/>
        </p:nvCxnSpPr>
        <p:spPr>
          <a:xfrm rot="10800000" flipV="1">
            <a:off x="4226615" y="3510799"/>
            <a:ext cx="1323050" cy="266650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구부러진 연결선 74"/>
          <p:cNvCxnSpPr/>
          <p:nvPr/>
        </p:nvCxnSpPr>
        <p:spPr>
          <a:xfrm rot="5400000">
            <a:off x="5439661" y="1667721"/>
            <a:ext cx="896684" cy="332277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구부러진 연결선 75"/>
          <p:cNvCxnSpPr>
            <a:stCxn id="27" idx="3"/>
            <a:endCxn id="68" idx="1"/>
          </p:cNvCxnSpPr>
          <p:nvPr/>
        </p:nvCxnSpPr>
        <p:spPr>
          <a:xfrm>
            <a:off x="4226615" y="3777449"/>
            <a:ext cx="1323050" cy="30225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구부러진 연결선 79"/>
          <p:cNvCxnSpPr>
            <a:stCxn id="27" idx="0"/>
            <a:endCxn id="72" idx="0"/>
          </p:cNvCxnSpPr>
          <p:nvPr/>
        </p:nvCxnSpPr>
        <p:spPr>
          <a:xfrm rot="5400000" flipH="1" flipV="1">
            <a:off x="4720043" y="1610096"/>
            <a:ext cx="218448" cy="3674982"/>
          </a:xfrm>
          <a:prstGeom prst="curvedConnector3">
            <a:avLst>
              <a:gd name="adj1" fmla="val 204647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직사각형 81"/>
          <p:cNvSpPr/>
          <p:nvPr/>
        </p:nvSpPr>
        <p:spPr>
          <a:xfrm>
            <a:off x="4095501" y="2898550"/>
            <a:ext cx="116957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/>
              <a:t>attr_10 = ‘Y’</a:t>
            </a:r>
            <a:endParaRPr lang="ko-KR" altLang="en-US" sz="1000"/>
          </a:p>
        </p:txBody>
      </p:sp>
      <p:sp>
        <p:nvSpPr>
          <p:cNvPr id="83" name="직사각형 82"/>
          <p:cNvSpPr/>
          <p:nvPr/>
        </p:nvSpPr>
        <p:spPr>
          <a:xfrm>
            <a:off x="5265073" y="4511721"/>
            <a:ext cx="2460064" cy="3762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err="1">
                <a:solidFill>
                  <a:schemeClr val="tx1"/>
                </a:solidFill>
              </a:rPr>
              <a:t>xif_plm_pjt_schedule_r_sn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cxnSp>
        <p:nvCxnSpPr>
          <p:cNvPr id="84" name="구부러진 연결선 83"/>
          <p:cNvCxnSpPr>
            <a:stCxn id="83" idx="1"/>
            <a:endCxn id="69" idx="3"/>
          </p:cNvCxnSpPr>
          <p:nvPr/>
        </p:nvCxnSpPr>
        <p:spPr>
          <a:xfrm rot="10800000" flipV="1">
            <a:off x="4128425" y="4699854"/>
            <a:ext cx="1136648" cy="22905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구부러진 연결선 87"/>
          <p:cNvCxnSpPr>
            <a:stCxn id="69" idx="3"/>
            <a:endCxn id="78" idx="1"/>
          </p:cNvCxnSpPr>
          <p:nvPr/>
        </p:nvCxnSpPr>
        <p:spPr>
          <a:xfrm>
            <a:off x="4128425" y="4928906"/>
            <a:ext cx="1136648" cy="35068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5265073" y="5546408"/>
            <a:ext cx="3514914" cy="34487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XIF_BPMS_PROJECTBOM_ESS_R_SN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XIF_BPMS_PROJECTBOM_AUTO_R_SN</a:t>
            </a:r>
          </a:p>
        </p:txBody>
      </p:sp>
      <p:cxnSp>
        <p:nvCxnSpPr>
          <p:cNvPr id="98" name="구부러진 연결선 97"/>
          <p:cNvCxnSpPr>
            <a:stCxn id="97" idx="1"/>
            <a:endCxn id="70" idx="3"/>
          </p:cNvCxnSpPr>
          <p:nvPr/>
        </p:nvCxnSpPr>
        <p:spPr>
          <a:xfrm rot="10800000" flipV="1">
            <a:off x="4049661" y="5718843"/>
            <a:ext cx="1215412" cy="259187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구부러진 연결선 100"/>
          <p:cNvCxnSpPr>
            <a:stCxn id="70" idx="3"/>
            <a:endCxn id="68" idx="1"/>
          </p:cNvCxnSpPr>
          <p:nvPr/>
        </p:nvCxnSpPr>
        <p:spPr>
          <a:xfrm flipV="1">
            <a:off x="4049661" y="4079702"/>
            <a:ext cx="1500004" cy="189832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6333442" y="6135085"/>
            <a:ext cx="2234186" cy="3448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SCM_MST_SITE_ITEM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6" name="구부러진 연결선 105"/>
          <p:cNvCxnSpPr>
            <a:stCxn id="70" idx="2"/>
            <a:endCxn id="105" idx="2"/>
          </p:cNvCxnSpPr>
          <p:nvPr/>
        </p:nvCxnSpPr>
        <p:spPr>
          <a:xfrm rot="16200000" flipH="1">
            <a:off x="4992034" y="4021456"/>
            <a:ext cx="281288" cy="4635713"/>
          </a:xfrm>
          <a:prstGeom prst="curvedConnector3">
            <a:avLst>
              <a:gd name="adj1" fmla="val 1812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직사각형 108"/>
          <p:cNvSpPr/>
          <p:nvPr/>
        </p:nvSpPr>
        <p:spPr>
          <a:xfrm>
            <a:off x="4494425" y="6446319"/>
            <a:ext cx="1457057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/>
              <a:t>BPMS_EXIST = ‘Y’</a:t>
            </a:r>
            <a:endParaRPr lang="ko-KR" altLang="en-US" sz="1000" dirty="0"/>
          </a:p>
        </p:txBody>
      </p:sp>
      <p:sp>
        <p:nvSpPr>
          <p:cNvPr id="110" name="직사각형 109"/>
          <p:cNvSpPr/>
          <p:nvPr/>
        </p:nvSpPr>
        <p:spPr>
          <a:xfrm>
            <a:off x="7450535" y="678553"/>
            <a:ext cx="2212465" cy="27699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/>
              <a:t>OPLM_OFP0_PLM_PJT_BPMS</a:t>
            </a:r>
          </a:p>
        </p:txBody>
      </p:sp>
      <p:cxnSp>
        <p:nvCxnSpPr>
          <p:cNvPr id="112" name="직선 연결선 111"/>
          <p:cNvCxnSpPr>
            <a:stCxn id="6" idx="3"/>
            <a:endCxn id="110" idx="1"/>
          </p:cNvCxnSpPr>
          <p:nvPr/>
        </p:nvCxnSpPr>
        <p:spPr>
          <a:xfrm flipV="1">
            <a:off x="5729988" y="817053"/>
            <a:ext cx="1720547" cy="8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직사각형 114"/>
          <p:cNvSpPr/>
          <p:nvPr/>
        </p:nvSpPr>
        <p:spPr>
          <a:xfrm>
            <a:off x="9492169" y="1905589"/>
            <a:ext cx="2364750" cy="27699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/>
              <a:t>OPLM_OFP0_PLM_DV_MASTER</a:t>
            </a:r>
            <a:endParaRPr lang="ko-KR" altLang="en-US" sz="1200"/>
          </a:p>
        </p:txBody>
      </p:sp>
      <p:cxnSp>
        <p:nvCxnSpPr>
          <p:cNvPr id="117" name="직선 연결선 116"/>
          <p:cNvCxnSpPr>
            <a:stCxn id="36" idx="3"/>
            <a:endCxn id="115" idx="1"/>
          </p:cNvCxnSpPr>
          <p:nvPr/>
        </p:nvCxnSpPr>
        <p:spPr>
          <a:xfrm flipV="1">
            <a:off x="8666483" y="2044089"/>
            <a:ext cx="825686" cy="1714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/>
          <p:cNvSpPr/>
          <p:nvPr/>
        </p:nvSpPr>
        <p:spPr>
          <a:xfrm>
            <a:off x="8934471" y="3371081"/>
            <a:ext cx="2010487" cy="276999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none">
            <a:spAutoFit/>
          </a:bodyPr>
          <a:lstStyle/>
          <a:p>
            <a:r>
              <a:rPr lang="en-US" altLang="ko-KR" sz="1200" dirty="0"/>
              <a:t>OPLM_OFP0_PLM_MODEL</a:t>
            </a:r>
            <a:endParaRPr lang="ko-KR" altLang="en-US" sz="1200" dirty="0"/>
          </a:p>
        </p:txBody>
      </p:sp>
      <p:cxnSp>
        <p:nvCxnSpPr>
          <p:cNvPr id="122" name="직선 연결선 121"/>
          <p:cNvCxnSpPr>
            <a:stCxn id="72" idx="3"/>
            <a:endCxn id="121" idx="1"/>
          </p:cNvCxnSpPr>
          <p:nvPr/>
        </p:nvCxnSpPr>
        <p:spPr>
          <a:xfrm flipV="1">
            <a:off x="7783851" y="3509581"/>
            <a:ext cx="1150620" cy="12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8964588" y="5491170"/>
            <a:ext cx="262167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/>
              <a:t>자동차 </a:t>
            </a:r>
            <a:r>
              <a:rPr lang="en-US" altLang="ko-KR" sz="1000" dirty="0"/>
              <a:t>: BPS0111 </a:t>
            </a:r>
          </a:p>
          <a:p>
            <a:r>
              <a:rPr lang="en-US" altLang="ko-KR" sz="1000" dirty="0"/>
              <a:t>ESS : BPS0114</a:t>
            </a:r>
          </a:p>
          <a:p>
            <a:r>
              <a:rPr lang="ko-KR" altLang="en-US" sz="1000" dirty="0"/>
              <a:t>매시 정각 및 </a:t>
            </a:r>
            <a:r>
              <a:rPr lang="en-US" altLang="ko-KR" sz="1000" dirty="0"/>
              <a:t>30</a:t>
            </a:r>
            <a:r>
              <a:rPr lang="ko-KR" altLang="en-US" sz="1000" dirty="0"/>
              <a:t>분에 데이터 생성하고</a:t>
            </a:r>
            <a:endParaRPr lang="en-US" altLang="ko-KR" sz="1000" dirty="0"/>
          </a:p>
          <a:p>
            <a:r>
              <a:rPr lang="en-US" altLang="ko-KR" sz="1000" dirty="0"/>
              <a:t>XIF </a:t>
            </a:r>
            <a:r>
              <a:rPr lang="ko-KR" altLang="en-US" sz="1000" dirty="0"/>
              <a:t>테이블에는 약 </a:t>
            </a:r>
            <a:r>
              <a:rPr lang="en-US" altLang="ko-KR" sz="1000" dirty="0"/>
              <a:t>20</a:t>
            </a:r>
            <a:r>
              <a:rPr lang="ko-KR" altLang="en-US" sz="1000" dirty="0"/>
              <a:t>분 정도 후에 수신됨</a:t>
            </a:r>
            <a:endParaRPr lang="en-US" altLang="ko-KR" sz="1000" dirty="0"/>
          </a:p>
          <a:p>
            <a:r>
              <a:rPr lang="ko-KR" altLang="en-US" sz="1000" dirty="0" err="1"/>
              <a:t>모델정보는</a:t>
            </a:r>
            <a:r>
              <a:rPr lang="ko-KR" altLang="en-US" sz="1000" dirty="0"/>
              <a:t> </a:t>
            </a:r>
            <a:r>
              <a:rPr lang="en-US" altLang="ko-KR" sz="1000" dirty="0" err="1"/>
              <a:t>bpms</a:t>
            </a:r>
            <a:r>
              <a:rPr lang="en-US" altLang="ko-KR" sz="1000" dirty="0"/>
              <a:t> </a:t>
            </a:r>
            <a:r>
              <a:rPr lang="ko-KR" altLang="en-US" sz="1000" dirty="0"/>
              <a:t>에서 바로 받음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51" name="직사각형 50"/>
          <p:cNvSpPr/>
          <p:nvPr/>
        </p:nvSpPr>
        <p:spPr>
          <a:xfrm>
            <a:off x="9755073" y="2516101"/>
            <a:ext cx="22669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 err="1"/>
              <a:t>Gplm</a:t>
            </a:r>
            <a:r>
              <a:rPr lang="en-US" altLang="ko-KR" sz="1000" dirty="0"/>
              <a:t> </a:t>
            </a:r>
            <a:r>
              <a:rPr lang="ko-KR" altLang="en-US" sz="1000" dirty="0"/>
              <a:t>에서 개발프로젝트가 만들어져야 </a:t>
            </a:r>
            <a:endParaRPr lang="en-US" altLang="ko-KR" sz="1000" dirty="0"/>
          </a:p>
          <a:p>
            <a:r>
              <a:rPr lang="en-US" altLang="ko-KR" sz="1000" dirty="0"/>
              <a:t>IF </a:t>
            </a:r>
            <a:r>
              <a:rPr lang="ko-KR" altLang="en-US" sz="1000" dirty="0"/>
              <a:t>됨 </a:t>
            </a:r>
            <a:r>
              <a:rPr lang="en-US" altLang="ko-KR" sz="1000" dirty="0"/>
              <a:t>( </a:t>
            </a:r>
            <a:r>
              <a:rPr lang="ko-KR" altLang="en-US" sz="1000" dirty="0" err="1"/>
              <a:t>샘플코드</a:t>
            </a:r>
            <a:r>
              <a:rPr lang="ko-KR" altLang="en-US" sz="1000" dirty="0"/>
              <a:t> 등록 등</a:t>
            </a:r>
            <a:r>
              <a:rPr lang="en-US" altLang="ko-KR" sz="1000" dirty="0"/>
              <a:t>..)</a:t>
            </a:r>
            <a:endParaRPr lang="ko-KR" altLang="en-US" sz="1000" dirty="0"/>
          </a:p>
        </p:txBody>
      </p:sp>
      <p:cxnSp>
        <p:nvCxnSpPr>
          <p:cNvPr id="52" name="직선 연결선 51"/>
          <p:cNvCxnSpPr>
            <a:stCxn id="51" idx="0"/>
            <a:endCxn id="115" idx="2"/>
          </p:cNvCxnSpPr>
          <p:nvPr/>
        </p:nvCxnSpPr>
        <p:spPr>
          <a:xfrm flipH="1" flipV="1">
            <a:off x="10674544" y="2182588"/>
            <a:ext cx="213994" cy="33351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>
            <a:stCxn id="121" idx="0"/>
            <a:endCxn id="51" idx="2"/>
          </p:cNvCxnSpPr>
          <p:nvPr/>
        </p:nvCxnSpPr>
        <p:spPr>
          <a:xfrm flipV="1">
            <a:off x="9939715" y="2916211"/>
            <a:ext cx="948823" cy="4548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구부러진 연결선 55"/>
          <p:cNvCxnSpPr>
            <a:stCxn id="27" idx="3"/>
            <a:endCxn id="105" idx="1"/>
          </p:cNvCxnSpPr>
          <p:nvPr/>
        </p:nvCxnSpPr>
        <p:spPr>
          <a:xfrm>
            <a:off x="4226615" y="3777449"/>
            <a:ext cx="2106827" cy="2530072"/>
          </a:xfrm>
          <a:prstGeom prst="curvedConnector3">
            <a:avLst>
              <a:gd name="adj1" fmla="val 3336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7F5BF6B1-3810-4395-8D70-5296F33742B0}"/>
              </a:ext>
            </a:extLst>
          </p:cNvPr>
          <p:cNvSpPr/>
          <p:nvPr/>
        </p:nvSpPr>
        <p:spPr>
          <a:xfrm>
            <a:off x="5265073" y="1787769"/>
            <a:ext cx="6756929" cy="19285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180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BPS</a:t>
            </a:r>
            <a:r>
              <a:rPr lang="ko-KR" altLang="en-US" dirty="0"/>
              <a:t> 환율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662390"/>
              </p:ext>
            </p:extLst>
          </p:nvPr>
        </p:nvGraphicFramePr>
        <p:xfrm>
          <a:off x="288445" y="1114937"/>
          <a:ext cx="10849112" cy="4084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99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18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200">
                        <a:solidFill>
                          <a:schemeClr val="tx1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EnSemble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환율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인터페이스 아이디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송신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시스템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BPS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(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 </a:t>
                      </a:r>
                      <a:r>
                        <a:rPr lang="en-US" altLang="ko-KR" sz="1400" b="0" dirty="0" err="1">
                          <a:solidFill>
                            <a:schemeClr val="tx1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EnSemble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ETL</a:t>
                      </a:r>
                      <a:endParaRPr lang="ko-KR" altLang="en-US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288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I/F TABLE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XIF_GSC_MOVE_EXCHANGE_RATE_SN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PGM-ID</a:t>
                      </a:r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PR_SCM_MST_EXCHANGE_RATE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28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본테이블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DM_MST_EXCHANGE_RATE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담당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백계성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책임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28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ctr" latinLnBrk="1">
                        <a:buAutoNum type="arabicPeriod"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화학 </a:t>
                      </a:r>
                      <a:r>
                        <a:rPr lang="ko-KR" altLang="en-US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경영관리팀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– </a:t>
                      </a:r>
                      <a:r>
                        <a:rPr lang="ko-KR" altLang="en-US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엔솔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경영관리팀에서 환율 공지</a:t>
                      </a:r>
                      <a:endParaRPr lang="en-US" altLang="ko-KR" sz="1400" b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342900" indent="-342900" algn="ctr" latinLnBrk="1">
                        <a:buAutoNum type="arabicPeriod"/>
                      </a:pP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EnSemble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 등록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en-US" altLang="ko-KR" sz="1400" b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EnSemble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GSCM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으로 송신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 </a:t>
                      </a:r>
                      <a:r>
                        <a:rPr lang="ko-KR" altLang="en-US" sz="1400" b="0" baseline="0" dirty="0" err="1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경영관리팀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  <a:p>
                      <a:pPr marL="342900" indent="-342900" algn="ctr" latinLnBrk="1">
                        <a:buAutoNum type="arabicPeriod"/>
                      </a:pP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GSCM 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에서 수신</a:t>
                      </a:r>
                      <a:endParaRPr lang="en-US" altLang="ko-KR" sz="1400" b="0" baseline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342900" indent="-342900" algn="ctr" latinLnBrk="1">
                        <a:buAutoNum type="arabicPeriod"/>
                      </a:pPr>
                      <a:r>
                        <a:rPr lang="en-US" altLang="ko-KR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GSCM I/F </a:t>
                      </a:r>
                      <a:r>
                        <a:rPr lang="ko-KR" altLang="en-US" sz="1400" b="0" baseline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테이블에서 본테이블로 복사</a:t>
                      </a:r>
                      <a:endParaRPr lang="en-US" altLang="ko-KR" sz="1400" b="0" baseline="0" dirty="0"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  <a:p>
                      <a:pPr marL="0" indent="0" algn="ctr" latinLnBrk="1">
                        <a:buNone/>
                      </a:pP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매일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 </a:t>
                      </a:r>
                      <a:r>
                        <a:rPr lang="en-US" altLang="ko-KR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23</a:t>
                      </a:r>
                      <a:r>
                        <a:rPr lang="ko-KR" altLang="en-US" sz="1400" b="0" dirty="0"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48701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1600" kern="1200" dirty="0">
                <a:solidFill>
                  <a:srgbClr val="000000"/>
                </a:solidFill>
                <a:effectLst/>
                <a:latin typeface="Arial"/>
                <a:ea typeface="굴림체"/>
              </a:rPr>
              <a:t>배치 프로시저 </a:t>
            </a:r>
            <a:r>
              <a:rPr lang="en-US" altLang="ko-KR" sz="1600" kern="1200" dirty="0">
                <a:solidFill>
                  <a:srgbClr val="000000"/>
                </a:solidFill>
                <a:effectLst/>
                <a:latin typeface="Arial"/>
                <a:ea typeface="굴림체"/>
              </a:rPr>
              <a:t>- </a:t>
            </a:r>
            <a:r>
              <a:rPr lang="en-US" altLang="ko-KR" dirty="0">
                <a:solidFill>
                  <a:schemeClr val="dk1"/>
                </a:solidFill>
              </a:rPr>
              <a:t>PR_SCM_MST_EXCHANGE_RATE, PR_DM_DNM_EXCHANGE_RATE_MAIL_SEND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89005" y="604316"/>
            <a:ext cx="2806872" cy="4938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XIF_GSC_MOVE_EXCHANGE_RATE_SN</a:t>
            </a:r>
          </a:p>
          <a:p>
            <a:pPr algn="ctr"/>
            <a:r>
              <a:rPr lang="en-US" altLang="ko-KR" sz="1000" dirty="0">
                <a:solidFill>
                  <a:schemeClr val="dk1"/>
                </a:solidFill>
              </a:rPr>
              <a:t>( I/F </a:t>
            </a:r>
            <a:r>
              <a:rPr lang="ko-KR" altLang="en-US" sz="1000" dirty="0" err="1">
                <a:solidFill>
                  <a:schemeClr val="dk1"/>
                </a:solidFill>
              </a:rPr>
              <a:t>수신테이블</a:t>
            </a:r>
            <a:r>
              <a:rPr lang="ko-KR" altLang="en-US" sz="1000" dirty="0">
                <a:solidFill>
                  <a:schemeClr val="dk1"/>
                </a:solidFill>
              </a:rPr>
              <a:t> </a:t>
            </a:r>
            <a:r>
              <a:rPr lang="en-US" altLang="ko-KR" sz="1000" dirty="0">
                <a:solidFill>
                  <a:schemeClr val="dk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22311" y="2043934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매일 </a:t>
            </a:r>
            <a:r>
              <a:rPr lang="en-US" altLang="ko-KR" sz="900" dirty="0"/>
              <a:t>12:00, 23:00 </a:t>
            </a:r>
          </a:p>
          <a:p>
            <a:r>
              <a:rPr lang="ko-KR" altLang="en-US" sz="900" dirty="0"/>
              <a:t>신규 데이터 수신여부 확인해서 있을 경우 </a:t>
            </a:r>
            <a:r>
              <a:rPr lang="en-US" altLang="ko-KR" sz="900" dirty="0"/>
              <a:t>DM </a:t>
            </a:r>
            <a:r>
              <a:rPr lang="ko-KR" altLang="en-US" sz="900" dirty="0"/>
              <a:t>환율테이블로 전송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1782" y="2653521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DM </a:t>
            </a:r>
            <a:r>
              <a:rPr lang="ko-KR" altLang="en-US" sz="900" dirty="0"/>
              <a:t>환율테이블로 전송</a:t>
            </a:r>
            <a:endParaRPr lang="en-US" altLang="ko-KR" sz="900" dirty="0"/>
          </a:p>
          <a:p>
            <a:r>
              <a:rPr lang="en-US" altLang="ko-KR" sz="900" dirty="0"/>
              <a:t>Price</a:t>
            </a:r>
            <a:r>
              <a:rPr lang="ko-KR" altLang="en-US" sz="900" dirty="0"/>
              <a:t> 업데이트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9108" y="4018760"/>
            <a:ext cx="2428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수요일 </a:t>
            </a:r>
            <a:r>
              <a:rPr lang="en-US" altLang="ko-KR" sz="900" dirty="0"/>
              <a:t>23:40</a:t>
            </a:r>
          </a:p>
          <a:p>
            <a:r>
              <a:rPr lang="ko-KR" altLang="en-US" sz="900" dirty="0"/>
              <a:t>현재 </a:t>
            </a:r>
            <a:r>
              <a:rPr lang="ko-KR" altLang="en-US" sz="900" dirty="0" err="1"/>
              <a:t>환율정보의</a:t>
            </a:r>
            <a:r>
              <a:rPr lang="ko-KR" altLang="en-US" sz="900" dirty="0"/>
              <a:t> 수신 시점을 알려주는 메일 발송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78B5C-2496-73DA-57BC-64852C64A986}"/>
              </a:ext>
            </a:extLst>
          </p:cNvPr>
          <p:cNvSpPr txBox="1"/>
          <p:nvPr/>
        </p:nvSpPr>
        <p:spPr>
          <a:xfrm>
            <a:off x="3324677" y="604316"/>
            <a:ext cx="3283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  <a:latin typeface="+mn-ea"/>
              </a:rPr>
              <a:t>BPS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에서 알아서 </a:t>
            </a:r>
            <a:r>
              <a:rPr lang="ko-KR" altLang="en-US" dirty="0" err="1">
                <a:solidFill>
                  <a:srgbClr val="FF0000"/>
                </a:solidFill>
                <a:latin typeface="+mn-ea"/>
              </a:rPr>
              <a:t>넣어줌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ko-KR" dirty="0">
                <a:solidFill>
                  <a:srgbClr val="FF0000"/>
                </a:solidFill>
                <a:latin typeface="+mn-ea"/>
              </a:rPr>
              <a:t>ETL </a:t>
            </a:r>
            <a:r>
              <a:rPr lang="ko-KR" altLang="en-US" dirty="0">
                <a:solidFill>
                  <a:srgbClr val="FF0000"/>
                </a:solidFill>
                <a:latin typeface="+mn-ea"/>
              </a:rPr>
              <a:t>방식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35DA84-9046-86A7-2263-04A738A12BA5}"/>
              </a:ext>
            </a:extLst>
          </p:cNvPr>
          <p:cNvSpPr txBox="1"/>
          <p:nvPr/>
        </p:nvSpPr>
        <p:spPr>
          <a:xfrm>
            <a:off x="389005" y="1438015"/>
            <a:ext cx="4705806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dk1"/>
                </a:solidFill>
              </a:rPr>
              <a:t>JOB. PR_SCM_MST_EXCHANGE_RATE</a:t>
            </a:r>
            <a:endParaRPr lang="ko-KR" altLang="en-US" dirty="0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17E2D68B-7A7F-AC39-7FD3-3AC29EC1DC9E}"/>
              </a:ext>
            </a:extLst>
          </p:cNvPr>
          <p:cNvSpPr/>
          <p:nvPr/>
        </p:nvSpPr>
        <p:spPr>
          <a:xfrm>
            <a:off x="632769" y="2020359"/>
            <a:ext cx="4218277" cy="402021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bg1"/>
                </a:solidFill>
              </a:rPr>
              <a:t>PR_SCM_MST_EXCHANGE_RATE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2858AE00-5EB9-C09A-1BB3-1705E24B23A6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2737553" y="1807347"/>
            <a:ext cx="4355" cy="2130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F3FF2AC-61EB-4CAD-8CAF-BE6DFBD134F9}"/>
              </a:ext>
            </a:extLst>
          </p:cNvPr>
          <p:cNvSpPr/>
          <p:nvPr/>
        </p:nvSpPr>
        <p:spPr>
          <a:xfrm>
            <a:off x="1187288" y="2653521"/>
            <a:ext cx="3100529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en-US" altLang="ko-KR" sz="1800" dirty="0">
                <a:solidFill>
                  <a:schemeClr val="dk1"/>
                </a:solidFill>
              </a:rPr>
              <a:t>DM_MST_EXCHANGE_RATE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2B7451EC-AE3D-2C5A-EB1E-2A5804FAC3FE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2737553" y="2422380"/>
            <a:ext cx="4355" cy="2311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모서리가 둥근 직사각형 9">
            <a:extLst>
              <a:ext uri="{FF2B5EF4-FFF2-40B4-BE49-F238E27FC236}">
                <a16:creationId xmlns:a16="http://schemas.microsoft.com/office/drawing/2014/main" id="{511008E8-2CA6-65D9-C4B1-8E40966A79C6}"/>
              </a:ext>
            </a:extLst>
          </p:cNvPr>
          <p:cNvSpPr/>
          <p:nvPr/>
        </p:nvSpPr>
        <p:spPr>
          <a:xfrm>
            <a:off x="697419" y="4203426"/>
            <a:ext cx="5155475" cy="402021"/>
          </a:xfrm>
          <a:prstGeom prst="roundRect">
            <a:avLst>
              <a:gd name="adj" fmla="val 4369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800" dirty="0">
                <a:solidFill>
                  <a:schemeClr val="bg1"/>
                </a:solidFill>
              </a:rPr>
              <a:t>PR_DM_DNM_EXCHANGE_RATE_MAIL_SEND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D2E053-12A5-E0C4-EC66-790CB51AA198}"/>
              </a:ext>
            </a:extLst>
          </p:cNvPr>
          <p:cNvSpPr txBox="1"/>
          <p:nvPr/>
        </p:nvSpPr>
        <p:spPr>
          <a:xfrm>
            <a:off x="384647" y="3562553"/>
            <a:ext cx="578102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800" dirty="0">
                <a:solidFill>
                  <a:schemeClr val="dk1"/>
                </a:solidFill>
              </a:rPr>
              <a:t>JOB.PR_DM_DNM_EXCHANGE_RATE_MAIL_SEND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A0C7948D-B1E9-5929-62B0-B8C303648238}"/>
              </a:ext>
            </a:extLst>
          </p:cNvPr>
          <p:cNvCxnSpPr>
            <a:cxnSpLocks/>
            <a:stCxn id="20" idx="2"/>
            <a:endCxn id="19" idx="0"/>
          </p:cNvCxnSpPr>
          <p:nvPr/>
        </p:nvCxnSpPr>
        <p:spPr>
          <a:xfrm flipH="1">
            <a:off x="3275157" y="3931885"/>
            <a:ext cx="1" cy="271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0598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A5441E-8CFA-4D43-9912-CF08D0D32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PR_DM_CUTOFF_DATA_CLEANSING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5B14B98-19BE-40D4-BC53-0069013BD682}"/>
              </a:ext>
            </a:extLst>
          </p:cNvPr>
          <p:cNvSpPr/>
          <p:nvPr/>
        </p:nvSpPr>
        <p:spPr>
          <a:xfrm>
            <a:off x="302386" y="586731"/>
            <a:ext cx="9270492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PR_DM_CUTOFF_DATA_CLEANSING DM </a:t>
            </a:r>
            <a:r>
              <a:rPr lang="ko-KR" altLang="en-US" sz="1400" dirty="0"/>
              <a:t>컷오프 데이터 삭제 및 보관테이블 이동처리</a:t>
            </a:r>
            <a:endParaRPr lang="en-US" altLang="ko-KR" sz="1400" dirty="0"/>
          </a:p>
          <a:p>
            <a:r>
              <a:rPr lang="en-US" altLang="ko-KR" sz="1400" dirty="0"/>
              <a:t>( </a:t>
            </a:r>
            <a:r>
              <a:rPr lang="ko-KR" altLang="en-US" sz="1400" dirty="0"/>
              <a:t>컷오프 데이터들이 대상임 </a:t>
            </a:r>
            <a:r>
              <a:rPr lang="en-US" altLang="ko-KR" sz="1400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Daily Cutoff Data </a:t>
            </a:r>
            <a:r>
              <a:rPr lang="ko-KR" altLang="en-US" sz="1400" dirty="0"/>
              <a:t>는 </a:t>
            </a:r>
            <a:r>
              <a:rPr lang="en-US" altLang="ko-KR" sz="1400" dirty="0"/>
              <a:t>2</a:t>
            </a:r>
            <a:r>
              <a:rPr lang="ko-KR" altLang="en-US" sz="1400" dirty="0"/>
              <a:t>주 보관 후 삭제함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Weekly Cutoff Data </a:t>
            </a:r>
            <a:r>
              <a:rPr lang="ko-KR" altLang="en-US" sz="1400" dirty="0"/>
              <a:t>는 </a:t>
            </a:r>
            <a:r>
              <a:rPr lang="en-US" altLang="ko-KR" sz="1400" dirty="0"/>
              <a:t>1</a:t>
            </a:r>
            <a:r>
              <a:rPr lang="ko-KR" altLang="en-US" sz="1400" dirty="0"/>
              <a:t>년</a:t>
            </a:r>
            <a:r>
              <a:rPr lang="en-US" altLang="ko-KR" sz="1400" dirty="0"/>
              <a:t>(54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/>
              <a:t> 보관 후 </a:t>
            </a:r>
            <a:r>
              <a:rPr lang="en-US" altLang="ko-KR" sz="1400" dirty="0"/>
              <a:t>_KEEP </a:t>
            </a:r>
            <a:r>
              <a:rPr lang="ko-KR" altLang="en-US" sz="1400" dirty="0"/>
              <a:t>테이블로 이동하고 원본테이블에서는 삭제함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Version Table 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Attr</a:t>
            </a:r>
            <a:r>
              <a:rPr lang="en-US" altLang="ko-KR" sz="1400" dirty="0"/>
              <a:t> </a:t>
            </a:r>
            <a:r>
              <a:rPr lang="ko-KR" altLang="en-US" sz="1400" dirty="0"/>
              <a:t>필드에 표시를 하는 이유는 </a:t>
            </a:r>
            <a:r>
              <a:rPr lang="en-US" altLang="ko-KR" sz="1400" dirty="0"/>
              <a:t>DM </a:t>
            </a:r>
            <a:r>
              <a:rPr lang="ko-KR" altLang="en-US" sz="1400" dirty="0"/>
              <a:t>관리목적도 있지만 </a:t>
            </a:r>
            <a:r>
              <a:rPr lang="en-US" altLang="ko-KR" sz="1400" dirty="0"/>
              <a:t>GSCM </a:t>
            </a:r>
            <a:r>
              <a:rPr lang="ko-KR" altLang="en-US" sz="1400" dirty="0"/>
              <a:t>의 데이터를 읽어가는 시스템</a:t>
            </a:r>
            <a:r>
              <a:rPr lang="en-US" altLang="ko-KR" sz="1400" dirty="0"/>
              <a:t>( Data Lake )</a:t>
            </a:r>
            <a:r>
              <a:rPr lang="ko-KR" altLang="en-US" sz="1400" dirty="0"/>
              <a:t>에 가져갈 대상을 알려주려는 목적도 있어서 임의로 변경하면 안됨</a:t>
            </a:r>
            <a:endParaRPr lang="en-US" altLang="ko-KR" sz="1400" dirty="0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0BD66F0-ABCA-443E-939E-68C24C8059CD}"/>
              </a:ext>
            </a:extLst>
          </p:cNvPr>
          <p:cNvSpPr/>
          <p:nvPr/>
        </p:nvSpPr>
        <p:spPr>
          <a:xfrm>
            <a:off x="1649197" y="2967670"/>
            <a:ext cx="1509639" cy="15096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_C </a:t>
            </a:r>
          </a:p>
          <a:p>
            <a:pPr algn="ctr"/>
            <a:r>
              <a:rPr lang="ko-KR" altLang="en-US" sz="900" dirty="0"/>
              <a:t>테이블</a:t>
            </a:r>
            <a:endParaRPr lang="en-US" altLang="ko-KR" sz="9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6BC1C8-31A3-427B-BDD9-C5E1F9338BF8}"/>
              </a:ext>
            </a:extLst>
          </p:cNvPr>
          <p:cNvSpPr txBox="1"/>
          <p:nvPr/>
        </p:nvSpPr>
        <p:spPr>
          <a:xfrm>
            <a:off x="3809064" y="5473403"/>
            <a:ext cx="2475358" cy="2616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PR_DM_CUTOFF_DATA_CLEANSING</a:t>
            </a:r>
            <a:endParaRPr lang="ko-KR" altLang="en-US" sz="1100" dirty="0"/>
          </a:p>
        </p:txBody>
      </p:sp>
      <p:cxnSp>
        <p:nvCxnSpPr>
          <p:cNvPr id="6" name="구부러진 연결선 155">
            <a:extLst>
              <a:ext uri="{FF2B5EF4-FFF2-40B4-BE49-F238E27FC236}">
                <a16:creationId xmlns:a16="http://schemas.microsoft.com/office/drawing/2014/main" id="{16F8FD32-F537-4B4D-A630-74DF652966BE}"/>
              </a:ext>
            </a:extLst>
          </p:cNvPr>
          <p:cNvCxnSpPr>
            <a:cxnSpLocks/>
            <a:stCxn id="4" idx="4"/>
            <a:endCxn id="5" idx="1"/>
          </p:cNvCxnSpPr>
          <p:nvPr/>
        </p:nvCxnSpPr>
        <p:spPr>
          <a:xfrm rot="16200000" flipH="1">
            <a:off x="2543091" y="4338234"/>
            <a:ext cx="1126899" cy="1405047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타원 6">
            <a:extLst>
              <a:ext uri="{FF2B5EF4-FFF2-40B4-BE49-F238E27FC236}">
                <a16:creationId xmlns:a16="http://schemas.microsoft.com/office/drawing/2014/main" id="{F8A2BA3E-7616-4AC3-9009-E5F9E791753B}"/>
              </a:ext>
            </a:extLst>
          </p:cNvPr>
          <p:cNvSpPr/>
          <p:nvPr/>
        </p:nvSpPr>
        <p:spPr>
          <a:xfrm>
            <a:off x="7656531" y="3013914"/>
            <a:ext cx="1509639" cy="15096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_C_KEEP</a:t>
            </a:r>
          </a:p>
          <a:p>
            <a:pPr algn="ctr"/>
            <a:r>
              <a:rPr lang="ko-KR" altLang="en-US" sz="900" dirty="0"/>
              <a:t>테이블</a:t>
            </a:r>
            <a:endParaRPr lang="en-US" altLang="ko-KR" sz="900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9EE91EF-E1AD-4878-A6D9-1C7C5A9CA068}"/>
              </a:ext>
            </a:extLst>
          </p:cNvPr>
          <p:cNvSpPr/>
          <p:nvPr/>
        </p:nvSpPr>
        <p:spPr>
          <a:xfrm>
            <a:off x="4857912" y="2664033"/>
            <a:ext cx="1509639" cy="150963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Version</a:t>
            </a:r>
          </a:p>
          <a:p>
            <a:pPr algn="ctr"/>
            <a:r>
              <a:rPr lang="ko-KR" altLang="en-US" sz="900" dirty="0"/>
              <a:t>테이블</a:t>
            </a:r>
            <a:endParaRPr lang="en-US" altLang="ko-KR" sz="900" dirty="0"/>
          </a:p>
        </p:txBody>
      </p:sp>
      <p:cxnSp>
        <p:nvCxnSpPr>
          <p:cNvPr id="12" name="구부러진 연결선 155">
            <a:extLst>
              <a:ext uri="{FF2B5EF4-FFF2-40B4-BE49-F238E27FC236}">
                <a16:creationId xmlns:a16="http://schemas.microsoft.com/office/drawing/2014/main" id="{B237A59B-0903-4E6C-AA08-70499D7EC748}"/>
              </a:ext>
            </a:extLst>
          </p:cNvPr>
          <p:cNvCxnSpPr>
            <a:cxnSpLocks/>
            <a:stCxn id="5" idx="3"/>
            <a:endCxn id="8" idx="4"/>
          </p:cNvCxnSpPr>
          <p:nvPr/>
        </p:nvCxnSpPr>
        <p:spPr>
          <a:xfrm flipH="1" flipV="1">
            <a:off x="5612732" y="4173672"/>
            <a:ext cx="671690" cy="1430536"/>
          </a:xfrm>
          <a:prstGeom prst="curvedConnector4">
            <a:avLst>
              <a:gd name="adj1" fmla="val -34034"/>
              <a:gd name="adj2" fmla="val 5457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구부러진 연결선 155">
            <a:extLst>
              <a:ext uri="{FF2B5EF4-FFF2-40B4-BE49-F238E27FC236}">
                <a16:creationId xmlns:a16="http://schemas.microsoft.com/office/drawing/2014/main" id="{9625575E-90CF-4ADC-83CB-01CF572A9F29}"/>
              </a:ext>
            </a:extLst>
          </p:cNvPr>
          <p:cNvCxnSpPr>
            <a:cxnSpLocks/>
            <a:stCxn id="5" idx="3"/>
            <a:endCxn id="7" idx="4"/>
          </p:cNvCxnSpPr>
          <p:nvPr/>
        </p:nvCxnSpPr>
        <p:spPr>
          <a:xfrm flipV="1">
            <a:off x="6284422" y="4523553"/>
            <a:ext cx="2126929" cy="108065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00300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PR_DM_CUTOFF_DATA_CLEANSING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02386" y="586731"/>
            <a:ext cx="9270492" cy="1384995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PR_DM_CUTOFF_DATA_CLEANSING DM </a:t>
            </a:r>
            <a:r>
              <a:rPr lang="ko-KR" altLang="en-US" sz="1400" dirty="0"/>
              <a:t>컷오프 데이터 삭제 및 보관테이블 이동처리</a:t>
            </a:r>
            <a:endParaRPr lang="en-US" altLang="ko-KR" sz="1400" dirty="0"/>
          </a:p>
          <a:p>
            <a:r>
              <a:rPr lang="en-US" altLang="ko-KR" sz="1400" dirty="0"/>
              <a:t>( </a:t>
            </a:r>
            <a:r>
              <a:rPr lang="ko-KR" altLang="en-US" sz="1400" dirty="0"/>
              <a:t>컷오프 데이터들이 대상임 </a:t>
            </a:r>
            <a:r>
              <a:rPr lang="en-US" altLang="ko-KR" sz="1400" dirty="0"/>
              <a:t>)</a:t>
            </a:r>
          </a:p>
          <a:p>
            <a:pPr marL="342900" indent="-342900">
              <a:buAutoNum type="arabicPeriod"/>
            </a:pPr>
            <a:r>
              <a:rPr lang="en-US" altLang="ko-KR" sz="1400" dirty="0"/>
              <a:t>Daily Cutoff Data </a:t>
            </a:r>
            <a:r>
              <a:rPr lang="ko-KR" altLang="en-US" sz="1400" dirty="0"/>
              <a:t>는 </a:t>
            </a:r>
            <a:r>
              <a:rPr lang="en-US" altLang="ko-KR" sz="1400" dirty="0"/>
              <a:t>2</a:t>
            </a:r>
            <a:r>
              <a:rPr lang="ko-KR" altLang="en-US" sz="1400" dirty="0"/>
              <a:t>주 보관 후 삭제함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Weekly Cutoff Data </a:t>
            </a:r>
            <a:r>
              <a:rPr lang="ko-KR" altLang="en-US" sz="1400" dirty="0"/>
              <a:t>는 </a:t>
            </a:r>
            <a:r>
              <a:rPr lang="en-US" altLang="ko-KR" sz="1400" dirty="0"/>
              <a:t>1</a:t>
            </a:r>
            <a:r>
              <a:rPr lang="ko-KR" altLang="en-US" sz="1400" dirty="0"/>
              <a:t>년</a:t>
            </a:r>
            <a:r>
              <a:rPr lang="en-US" altLang="ko-KR" sz="1400" dirty="0"/>
              <a:t>(54</a:t>
            </a:r>
            <a:r>
              <a:rPr lang="ko-KR" altLang="en-US" sz="1400" dirty="0"/>
              <a:t>주</a:t>
            </a:r>
            <a:r>
              <a:rPr lang="en-US" altLang="ko-KR" sz="1400" dirty="0"/>
              <a:t>)</a:t>
            </a:r>
            <a:r>
              <a:rPr lang="ko-KR" altLang="en-US" sz="1400" dirty="0"/>
              <a:t> 보관 후 </a:t>
            </a:r>
            <a:r>
              <a:rPr lang="en-US" altLang="ko-KR" sz="1400" dirty="0"/>
              <a:t>_KEEP </a:t>
            </a:r>
            <a:r>
              <a:rPr lang="ko-KR" altLang="en-US" sz="1400" dirty="0"/>
              <a:t>테이블로 이동하고 원본테이블에서는 삭제함</a:t>
            </a:r>
            <a:endParaRPr lang="en-US" altLang="ko-KR" sz="1400" dirty="0"/>
          </a:p>
          <a:p>
            <a:pPr marL="342900" indent="-342900">
              <a:buAutoNum type="arabicPeriod"/>
            </a:pPr>
            <a:r>
              <a:rPr lang="en-US" altLang="ko-KR" sz="1400" dirty="0"/>
              <a:t>Version Table </a:t>
            </a:r>
            <a:r>
              <a:rPr lang="ko-KR" altLang="en-US" sz="1400" dirty="0"/>
              <a:t>의 </a:t>
            </a:r>
            <a:r>
              <a:rPr lang="en-US" altLang="ko-KR" sz="1400" dirty="0" err="1"/>
              <a:t>Attr</a:t>
            </a:r>
            <a:r>
              <a:rPr lang="en-US" altLang="ko-KR" sz="1400" dirty="0"/>
              <a:t> </a:t>
            </a:r>
            <a:r>
              <a:rPr lang="ko-KR" altLang="en-US" sz="1400" dirty="0"/>
              <a:t>필드에 표시를 하는 이유는 </a:t>
            </a:r>
            <a:r>
              <a:rPr lang="en-US" altLang="ko-KR" sz="1400" dirty="0"/>
              <a:t>DM </a:t>
            </a:r>
            <a:r>
              <a:rPr lang="ko-KR" altLang="en-US" sz="1400" dirty="0"/>
              <a:t>관리목적도 있지만 </a:t>
            </a:r>
            <a:r>
              <a:rPr lang="en-US" altLang="ko-KR" sz="1400" dirty="0"/>
              <a:t>GSCM </a:t>
            </a:r>
            <a:r>
              <a:rPr lang="ko-KR" altLang="en-US" sz="1400" dirty="0"/>
              <a:t>의 데이터를 읽어가는 시스템</a:t>
            </a:r>
            <a:r>
              <a:rPr lang="en-US" altLang="ko-KR" sz="1400" dirty="0"/>
              <a:t>( Data Lake )</a:t>
            </a:r>
            <a:r>
              <a:rPr lang="ko-KR" altLang="en-US" sz="1400" dirty="0"/>
              <a:t>에 가져갈 대상을 알려주려는 목적도 있어서 임의로 변경하면 안됨</a:t>
            </a:r>
            <a:endParaRPr lang="en-US" altLang="ko-KR" sz="1400" dirty="0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186186"/>
              </p:ext>
            </p:extLst>
          </p:nvPr>
        </p:nvGraphicFramePr>
        <p:xfrm>
          <a:off x="302386" y="2225167"/>
          <a:ext cx="10446464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54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128">
                  <a:extLst>
                    <a:ext uri="{9D8B030D-6E8A-4147-A177-3AD203B41FA5}">
                      <a16:colId xmlns:a16="http://schemas.microsoft.com/office/drawing/2014/main" val="2061295615"/>
                    </a:ext>
                  </a:extLst>
                </a:gridCol>
                <a:gridCol w="1537128">
                  <a:extLst>
                    <a:ext uri="{9D8B030D-6E8A-4147-A177-3AD203B41FA5}">
                      <a16:colId xmlns:a16="http://schemas.microsoft.com/office/drawing/2014/main" val="4170537451"/>
                    </a:ext>
                  </a:extLst>
                </a:gridCol>
                <a:gridCol w="1537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9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테이블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버전유형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처리방법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보관기간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Version Table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표시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DM_PLN_MKT_FCST_C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Daily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DM_PLN_SALES_PLAN_C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Daily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DM_PLN_MKT_FCST_RESULT_C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Daily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DM_PLN_SALES_PLAN_RESULT_C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Daily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SCM_MST_FUTURE_PRICE_C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Daily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DM_MST_EXCHANGE_RATE_C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Daily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삭제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2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4079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DM_PLN_MKT_FCST_C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Weekly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54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ATTRIBUTE1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89573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DM_PLN_MKT_FCST_RESULT_C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Weekly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54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ATTRIBUTE2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0865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DM_PLN_SALES_PLAN_C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Weekly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54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ATTRIBUTE1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9407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DM_PLN_SALES_PLAN_RESULT_C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Weekly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54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ATTRIBUTE2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9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DM_PLN_BP_FCST_C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Manual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54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ATTRIBUTE1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048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SCM_MST_FUTURE_PRICE_C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Weekly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이동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54</a:t>
                      </a:r>
                      <a:r>
                        <a:rPr lang="ko-KR" altLang="en-US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주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ATTRIBUTE3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3915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DM_ANL_KPI_SUMMARY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삭제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주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0210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DM_ANL_KPI_SALES_ACCURACY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삭제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27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주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20758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DM_PLN_DEMANDID_PEGGING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삭제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14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주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7443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DM_PLN_NET_DEMAND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삭제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14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주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950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DM_PLN_SALES_PLAN_REPORT_C</a:t>
                      </a:r>
                      <a:endParaRPr lang="ko-KR" altLang="en-US" sz="1000" dirty="0">
                        <a:latin typeface="LG스마트체 Light" panose="020B0600000101010101" pitchFamily="50" charset="-127"/>
                        <a:ea typeface="LG스마트체 Light" panose="020B0600000101010101" pitchFamily="50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dirty="0"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</a:rPr>
                        <a:t>Manual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이동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18</a:t>
                      </a:r>
                      <a:r>
                        <a:rPr lang="ko-KR" altLang="en-US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개월</a:t>
                      </a:r>
                      <a:endParaRPr lang="en-US" altLang="ko-KR" sz="1000" kern="1200" dirty="0">
                        <a:solidFill>
                          <a:schemeClr val="dk1"/>
                        </a:solidFill>
                        <a:latin typeface="LG스마트체 Light" panose="020B0600000101010101" pitchFamily="50" charset="-127"/>
                        <a:ea typeface="LG스마트체 Light" panose="020B0600000101010101" pitchFamily="50" charset="-127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00" kern="1200" dirty="0">
                          <a:solidFill>
                            <a:schemeClr val="dk1"/>
                          </a:solidFill>
                          <a:latin typeface="LG스마트체 Light" panose="020B0600000101010101" pitchFamily="50" charset="-127"/>
                          <a:ea typeface="LG스마트체 Light" panose="020B0600000101010101" pitchFamily="50" charset="-127"/>
                          <a:cs typeface="+mn-cs"/>
                        </a:rPr>
                        <a:t>ATTRIBUTE3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25507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74900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GSCM Data Purge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02386" y="586731"/>
            <a:ext cx="9270492" cy="52322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GSCM</a:t>
            </a:r>
            <a:r>
              <a:rPr lang="ko-KR" altLang="en-US" sz="1400" dirty="0"/>
              <a:t> 전체적으로 적용되는 데이터 삭제 프로시저 </a:t>
            </a:r>
            <a:r>
              <a:rPr lang="en-US" altLang="ko-KR" sz="1400" dirty="0"/>
              <a:t>( </a:t>
            </a:r>
            <a:r>
              <a:rPr lang="ko-KR" altLang="en-US" sz="1400" dirty="0"/>
              <a:t>프로시저 </a:t>
            </a:r>
            <a:r>
              <a:rPr lang="en-US" altLang="ko-KR" sz="1400" dirty="0"/>
              <a:t>: PR_SCM_SYS_DATA_PURGE_WEEKLY)</a:t>
            </a:r>
          </a:p>
          <a:p>
            <a:r>
              <a:rPr lang="ko-KR" altLang="en-US" sz="1400" dirty="0"/>
              <a:t>주로 인터페이스 테이블과 같이 별도 보관정책이 없고</a:t>
            </a:r>
            <a:r>
              <a:rPr lang="en-US" altLang="ko-KR" sz="1400" dirty="0"/>
              <a:t>, </a:t>
            </a:r>
            <a:r>
              <a:rPr lang="ko-KR" altLang="en-US" sz="1400" dirty="0"/>
              <a:t>삭제는 필요한 테이블들이 대상임</a:t>
            </a:r>
            <a:endParaRPr lang="en-US" altLang="ko-KR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5713CD6-2B02-43E9-A2B2-BB2F97AC7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86" y="1926126"/>
            <a:ext cx="3467100" cy="3200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757698A-6427-47CC-8F67-227D93D11615}"/>
              </a:ext>
            </a:extLst>
          </p:cNvPr>
          <p:cNvSpPr txBox="1"/>
          <p:nvPr/>
        </p:nvSpPr>
        <p:spPr>
          <a:xfrm>
            <a:off x="365435" y="1397101"/>
            <a:ext cx="34868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Batch Job </a:t>
            </a:r>
            <a:r>
              <a:rPr lang="ko-KR" altLang="en-US" dirty="0"/>
              <a:t>에 아래와 같이 걸려있음</a:t>
            </a:r>
          </a:p>
        </p:txBody>
      </p:sp>
    </p:spTree>
    <p:extLst>
      <p:ext uri="{BB962C8B-B14F-4D97-AF65-F5344CB8AC3E}">
        <p14:creationId xmlns:p14="http://schemas.microsoft.com/office/powerpoint/2010/main" val="54454614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GSCM Data Purge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57698A-6427-47CC-8F67-227D93D11615}"/>
              </a:ext>
            </a:extLst>
          </p:cNvPr>
          <p:cNvSpPr txBox="1"/>
          <p:nvPr/>
        </p:nvSpPr>
        <p:spPr>
          <a:xfrm>
            <a:off x="302386" y="520801"/>
            <a:ext cx="5352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해당 프로시저가 아래 </a:t>
            </a:r>
            <a:r>
              <a:rPr lang="ko-KR" altLang="en-US" dirty="0" err="1"/>
              <a:t>룩업을</a:t>
            </a:r>
            <a:r>
              <a:rPr lang="ko-KR" altLang="en-US" dirty="0"/>
              <a:t> 읽어서 매주 삭제작업 진행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9D2539-9C9F-414B-A2B1-FADB0DC2C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386" y="1567490"/>
            <a:ext cx="10937212" cy="400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11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LG스마트체 Regular">
      <a:majorFont>
        <a:latin typeface="LG스마트체 Regular"/>
        <a:ea typeface="LG스마트체 Regular"/>
        <a:cs typeface=""/>
      </a:majorFont>
      <a:minorFont>
        <a:latin typeface="LG스마트체 Regular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117313</TotalTime>
  <Words>5958</Words>
  <Application>Microsoft Office PowerPoint</Application>
  <PresentationFormat>와이드스크린</PresentationFormat>
  <Paragraphs>862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4" baseType="lpstr">
      <vt:lpstr>LG스마트체 Light</vt:lpstr>
      <vt:lpstr>LG스마트체 Regular</vt:lpstr>
      <vt:lpstr>LG스마트체2.0 Light</vt:lpstr>
      <vt:lpstr>LG스마트체2.0 Regular</vt:lpstr>
      <vt:lpstr>돋움체</vt:lpstr>
      <vt:lpstr>맑은 고딕</vt:lpstr>
      <vt:lpstr>Arial</vt:lpstr>
      <vt:lpstr>Wingdings</vt:lpstr>
      <vt:lpstr>Office 테마</vt:lpstr>
      <vt:lpstr>PowerPoint 프레젠테이션</vt:lpstr>
      <vt:lpstr>조직, 관련 시스템</vt:lpstr>
      <vt:lpstr>개요</vt:lpstr>
      <vt:lpstr>DM 전체 데이터 흐름</vt:lpstr>
      <vt:lpstr>테이블 구조</vt:lpstr>
      <vt:lpstr>메져설명 </vt:lpstr>
      <vt:lpstr>메져설명 </vt:lpstr>
      <vt:lpstr>Cut off 일정</vt:lpstr>
      <vt:lpstr>Batch – weekly rolling 정리</vt:lpstr>
      <vt:lpstr>PowerPoint 프레젠테이션</vt:lpstr>
      <vt:lpstr>PowerPoint 프레젠테이션</vt:lpstr>
      <vt:lpstr>배치 - Weekly Rolling</vt:lpstr>
      <vt:lpstr>PR_DM_PLN_MKT_FCST_QTY_BALANCE_CREATE 실행시 패턴</vt:lpstr>
      <vt:lpstr>배치 프로시저 - PR_DM_PLN_MKT_FCST_QTY_BALANCE_CREATE</vt:lpstr>
      <vt:lpstr>배치 프로시저 - PR_DM_PLN_MKT_FCST_QTY_BALANCE_CREATE</vt:lpstr>
      <vt:lpstr>PR_DM_PLN_MKT_FCST_C_QTY_BALANCE_CREATE</vt:lpstr>
      <vt:lpstr>배치 - Weekly Rolling – MKT FCST Result Move</vt:lpstr>
      <vt:lpstr>배치 - Weekly Rolling</vt:lpstr>
      <vt:lpstr>ERP 매출 실적 JOB_RFC.매출 실적 정보</vt:lpstr>
      <vt:lpstr>ERP 매출 실적 – ERP I/F 스케쥴</vt:lpstr>
      <vt:lpstr>ERP 매출 실적</vt:lpstr>
      <vt:lpstr>판매법인 재고 JOB_RFC.판매법인(G260) 재고</vt:lpstr>
      <vt:lpstr>판매법인 재고</vt:lpstr>
      <vt:lpstr>Customer Master (Soldto, Shipto) JOB_RFC.Customer Master(Soldto, Shipto)</vt:lpstr>
      <vt:lpstr>Customer Master (Soldto, Shipto)</vt:lpstr>
      <vt:lpstr>자재 입/출고 정보 JOB_RFC.DM_VMI_재고 입출고 실적</vt:lpstr>
      <vt:lpstr>자재 입/출고 정보</vt:lpstr>
      <vt:lpstr>PROJECT</vt:lpstr>
      <vt:lpstr>배치 프로시저 - PR_SCM_MST_PROJECT – 개발/운영이 달라서 운영기준으로 동기화(2020/7/22)</vt:lpstr>
      <vt:lpstr>BPS 환율</vt:lpstr>
      <vt:lpstr>배치 프로시저 - PR_SCM_MST_EXCHANGE_RATE, PR_DM_DNM_EXCHANGE_RATE_MAIL_SEND</vt:lpstr>
      <vt:lpstr>PR_DM_CUTOFF_DATA_CLEANSING</vt:lpstr>
      <vt:lpstr>PR_DM_CUTOFF_DATA_CLEANSING</vt:lpstr>
      <vt:lpstr>GSCM Data Purge</vt:lpstr>
      <vt:lpstr>GSCM Data Purge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김영휘/hwi1993/기타협력업체</dc:creator>
  <cp:lastModifiedBy>김현기(HYUNKI KIM)[k0101]/책임/업무혁신.SCM PI.공급/생산SCM PI팀</cp:lastModifiedBy>
  <cp:revision>762</cp:revision>
  <dcterms:created xsi:type="dcterms:W3CDTF">2019-09-08T23:11:34Z</dcterms:created>
  <dcterms:modified xsi:type="dcterms:W3CDTF">2026-05-18T06:51:41Z</dcterms:modified>
</cp:coreProperties>
</file>